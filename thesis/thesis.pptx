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lvl1pPr marL="0" indent="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1pPr>
    <a:lvl2pPr marL="457200" indent="4572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2pPr>
    <a:lvl3pPr marL="914400" indent="9144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3pPr>
    <a:lvl4pPr marL="1371600" indent="13716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4pPr>
    <a:lvl5pPr marL="1828800" indent="1828800" algn="l" defTabSz="457200" rtl="0">
      <a:lnSpc>
        <a:spcPct val="100000"/>
      </a:lnSpc>
      <a:spcBef>
        <a:spcPts val="0"/>
      </a:spcBef>
      <a:spcAft>
        <a:spcPts val="0"/>
      </a:spcAft>
      <a:buNone/>
      <a:defRPr lang="en-US" sz="2400" b="0" i="0">
        <a:solidFill>
          <a:schemeClr val="dk1"/>
        </a:solidFill>
        <a:latin typeface="Arial"/>
        <a:ea typeface="ＭＳ Ｐゴシック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193440" name="Espaço Reservado para Cabeçalho 1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>
              <a:defRPr/>
            </a:pPr>
            <a:endParaRPr sz="1400"/>
          </a:p>
        </p:txBody>
      </p:sp>
      <p:sp>
        <p:nvSpPr>
          <p:cNvPr id="865941130" name="Espaço Reservado para Data 2"/>
          <p:cNvSpPr>
            <a:spLocks noChangeShapeType="1" noGrp="1"/>
          </p:cNvSpPr>
          <p:nvPr>
            <p:ph type="dt" idx="1"/>
          </p:nvPr>
        </p:nvSpPr>
        <p:spPr bwMode="auto">
          <a:xfrm>
            <a:off x="3884612" y="0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r>
              <a:rPr lang="pt-PT" sz="1200"/>
              <a:t>*</a:t>
            </a:r>
            <a:endParaRPr/>
          </a:p>
        </p:txBody>
      </p:sp>
      <p:sp>
        <p:nvSpPr>
          <p:cNvPr id="1062687047" name="Espaço Reservado para Imagem de Slide 3"/>
          <p:cNvSpPr>
            <a:spLocks noChangeShapeType="1" noGrp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15439777" name="Espaço Reservado para Anotações 4"/>
          <p:cNvSpPr>
            <a:spLocks noChangeShapeType="1" noGrp="1"/>
          </p:cNvSpPr>
          <p:nvPr>
            <p:ph type="body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1pPr>
            <a:lvl2pPr marL="74295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/>
              <a:t>Editar estilos de texto Mestre</a:t>
            </a:r>
            <a:br>
              <a:rPr lang="pt-BR"/>
            </a:br>
            <a:r>
              <a:rPr lang="pt-BR"/>
              <a:t>Segundo nível</a:t>
            </a:r>
            <a:br>
              <a:rPr lang="pt-BR"/>
            </a:br>
            <a:r>
              <a:rPr lang="pt-BR"/>
              <a:t>Terceiro nível</a:t>
            </a:r>
            <a:br>
              <a:rPr lang="pt-BR"/>
            </a:br>
            <a:r>
              <a:rPr lang="pt-BR"/>
              <a:t>Quarto nível</a:t>
            </a:r>
            <a:br>
              <a:rPr lang="pt-BR"/>
            </a:br>
            <a:r>
              <a:rPr lang="pt-BR"/>
              <a:t>Quinto nível</a:t>
            </a:r>
            <a:endParaRPr/>
          </a:p>
        </p:txBody>
      </p:sp>
      <p:sp>
        <p:nvSpPr>
          <p:cNvPr id="2041327390" name="Espaço Reservado para Rodapé 5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0390799" name="Espaço Reservado para Número de Slide 6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84612" y="8685212"/>
            <a:ext cx="2971800" cy="458787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pt-PT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686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3993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509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F23F2A-3BEA-A702-AC84-2674DA4999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8364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090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3034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B296F8-F15F-5B19-C81C-A8D96D60BF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3470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7123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qualidade de imagem é o que define o quão bem, ou mal, uma imagem, adquirida, serve para a interpretação do ser humano, ou </a:t>
            </a: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interpretação pelo computador.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 avaliação da qualidade de imagem é, tal como o nome indica, como devemos pontuar a qualidade de imagem para atingir este objetivo.</a:t>
            </a:r>
            <a:endParaRPr sz="1200"/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Existem dois tipos de categorias de IQA:</a:t>
            </a:r>
            <a:endParaRPr lang="pt-BR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 IQA subjetivo, onde um agregado de pessoas avaliam a qualidade de uma imagem com base na sua opinião pessoal. Isto produz um score de opinião média, denominado por MOS.</a:t>
            </a:r>
            <a:r>
              <a:rPr lang="pt-BR"/>
              <a:t> Esta categoria é o ápice da qualidade da avaliações de imagens para a maior parte de sistemas reais, porém exige um custo elevadíssimo no que conta à contratação de pessoas para darem a sua opinião e, eventualmente, treinarem uma métrica objetiva.</a:t>
            </a:r>
            <a:endParaRPr lang="pt-BR" sz="1200" b="0" i="0" u="none" strike="noStrike" cap="none" spc="0">
              <a:solidFill>
                <a:schemeClr val="dk1"/>
              </a:solidFill>
              <a:latin typeface="Times New Roman"/>
              <a:cs typeface="Times New Roman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 IQA objetivo, onde computadores fazem esta mesma avaliação de maneira automática, usando diferentes tipos de modelos matemáticos e, por isso, gerando vários tipos diferentes de métricas, cada uma com a sua utilidade.</a:t>
            </a:r>
            <a:endParaRPr sz="1200"/>
          </a:p>
          <a:p>
            <a:pPr>
              <a:defRPr/>
            </a:pPr>
            <a:endParaRPr/>
          </a:p>
        </p:txBody>
      </p:sp>
      <p:sp>
        <p:nvSpPr>
          <p:cNvPr id="1408288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5C817-989A-16C8-BEE4-0637A472BA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7443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347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Existem dois tipos de IQA objetivo:</a:t>
            </a:r>
            <a:endParaRPr lang="pt-BR"/>
          </a:p>
          <a:p>
            <a:pPr>
              <a:defRPr/>
            </a:pPr>
            <a:endParaRPr/>
          </a:p>
          <a:p>
            <a:pPr marL="217793" indent="-217793">
              <a:buFont typeface="Arial"/>
              <a:buChar char="–"/>
              <a:defRPr/>
            </a:pPr>
            <a:r>
              <a:rPr lang="pt-BR"/>
              <a:t>Full-Reference IQA, que requer a presença da imagem de referência, não distorcida, para dar uma pontuação representativa da qualidade de uma imagem. Este tipo de IQA está, por norma, extremamente alinhado com a opinião humana, porém, não é prático na maioria dos cenários reais, onde na maior parte das vezes, não existe uma versão original de uma imagem que se quer avaliar em termos de qualidade.</a:t>
            </a:r>
            <a:endParaRPr lang="pt-BR"/>
          </a:p>
          <a:p>
            <a:pPr marL="217793" indent="-217793">
              <a:buFont typeface="Arial"/>
              <a:buChar char="–"/>
              <a:defRPr/>
            </a:pPr>
            <a:r>
              <a:rPr lang="pt-BR"/>
              <a:t>No-Reference IQA, que, </a:t>
            </a:r>
            <a:r>
              <a:rPr lang="pt-BR"/>
              <a:t>por sua vez, não requer uma imagem de referência para avaliar uma imagem, podendo assim </a:t>
            </a:r>
            <a:endParaRPr lang="pt-BR"/>
          </a:p>
          <a:p>
            <a:pPr>
              <a:defRPr/>
            </a:pPr>
            <a:endParaRPr/>
          </a:p>
        </p:txBody>
      </p:sp>
      <p:sp>
        <p:nvSpPr>
          <p:cNvPr id="1044751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66C82-23B6-6961-6D8A-D8B68B454F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532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0725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63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33E45A-FF1A-E4E1-D4B1-8BA1EA7CC3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41845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4739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2943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73C7E5-69ED-4B66-5032-138A18CE48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3559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159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34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D36834-491C-1F25-E9F3-90EF1B0ABE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3325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95339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410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3856BD-6700-078C-4327-922D510741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870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0423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15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5FAA00-59DA-83C7-EFCD-D38CE8E4F6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266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503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899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E29CF-79C2-EC9C-41EF-3F8A3AB58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7388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2864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90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7A46DB-9606-4651-4656-F9A46234C7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046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527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7022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E8E9BC-ACAF-D833-3DEF-D5BDDF866D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90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3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0990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6BA1DE-7D9E-A8B7-12CA-AC4890F0D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39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212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979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12B6BF-0839-7413-2D30-0E4E389AE3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150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420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3710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79994-1FCC-17CE-3A01-3AF27BABEE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30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0195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348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694D33-28C3-A9F9-6D9D-C3D88B87EC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784857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PT"/>
              <a:t>Click to edit Master title style</a:t>
            </a:r>
            <a:endParaRPr/>
          </a:p>
        </p:txBody>
      </p:sp>
      <p:sp>
        <p:nvSpPr>
          <p:cNvPr id="1964968929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pt-PT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PT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PT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PT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PT"/>
              <a:t>Fifth level</a:t>
            </a:r>
            <a:endParaRPr/>
          </a:p>
        </p:txBody>
      </p:sp>
      <p:sp>
        <p:nvSpPr>
          <p:cNvPr id="190272073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1077662103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82075057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83233" name="Title Placeholder 1"/>
          <p:cNvSpPr>
            <a:spLocks noChangeShapeType="1" noGrp="1"/>
          </p:cNvSpPr>
          <p:nvPr>
            <p:ph type="title" idx="0"/>
          </p:nvPr>
        </p:nvSpPr>
        <p:spPr bwMode="auto">
          <a:xfrm>
            <a:off x="457200" y="274637"/>
            <a:ext cx="8229600" cy="1143000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pt-PT"/>
              <a:t>Click to edit Master title style</a:t>
            </a:r>
            <a:endParaRPr/>
          </a:p>
        </p:txBody>
      </p:sp>
      <p:sp>
        <p:nvSpPr>
          <p:cNvPr id="437570248" name="Text Placeholder 2"/>
          <p:cNvSpPr>
            <a:spLocks noChangeShapeType="1" noGrp="1"/>
          </p:cNvSpPr>
          <p:nvPr>
            <p:ph type="body" idx="1"/>
          </p:nvPr>
        </p:nvSpPr>
        <p:spPr bwMode="auto">
          <a:xfrm>
            <a:off x="457200" y="1600200"/>
            <a:ext cx="8229600" cy="452596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342900" lvl="0" indent="-342900">
              <a:spcBef>
                <a:spcPts val="0"/>
              </a:spcBef>
              <a:buFont typeface="Arial"/>
              <a:buChar char="•"/>
              <a:defRPr/>
            </a:pPr>
            <a:r>
              <a:rPr lang="pt-PT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har char="–"/>
              <a:defRPr/>
            </a:pPr>
            <a:r>
              <a:rPr lang="pt-PT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har char="•"/>
              <a:defRPr/>
            </a:pPr>
            <a:r>
              <a:rPr lang="pt-PT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har char="–"/>
              <a:defRPr/>
            </a:pPr>
            <a:r>
              <a:rPr lang="pt-PT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har char="»"/>
              <a:defRPr/>
            </a:pPr>
            <a:r>
              <a:rPr lang="pt-PT"/>
              <a:t>Fifth level</a:t>
            </a:r>
            <a:endParaRPr/>
          </a:p>
        </p:txBody>
      </p:sp>
      <p:sp>
        <p:nvSpPr>
          <p:cNvPr id="153539611" name="Date Placeholder 3"/>
          <p:cNvSpPr>
            <a:spLocks noChangeShapeType="1" noGrp="1"/>
          </p:cNvSpPr>
          <p:nvPr>
            <p:ph type="dt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200">
                <a:solidFill>
                  <a:srgbClr val="898989"/>
                </a:solidFill>
                <a:latin typeface="Calibri"/>
              </a:rPr>
              <a:t>*</a:t>
            </a:r>
            <a:endParaRPr/>
          </a:p>
        </p:txBody>
      </p:sp>
      <p:sp>
        <p:nvSpPr>
          <p:cNvPr id="1409452113" name="Footer Placeholder 4"/>
          <p:cNvSpPr>
            <a:spLocks noChangeShapeType="1" noGrp="1"/>
          </p:cNvSpPr>
          <p:nvPr>
            <p:ph type="ft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549717309" name="Slide Number Placeholder 5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lIns="91440" tIns="45720" rIns="91440" bIns="45720" anchor="ctr" anchorCtr="0"/>
          <a:lstStyle>
            <a:lvl1pPr marL="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>
                <a:solidFill>
                  <a:srgbClr val="898989"/>
                </a:solidFill>
                <a:latin typeface="Calibri"/>
              </a:rPr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1pPr>
      <a:lvl2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2pPr>
      <a:lvl3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3pPr>
      <a:lvl4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4pPr>
      <a:lvl5pPr marL="0" indent="0" algn="ctr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4400" b="0" i="0">
          <a:solidFill>
            <a:schemeClr val="dk1"/>
          </a:solidFill>
          <a:latin typeface="Calibri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457200" rtl="0">
        <a:lnSpc>
          <a:spcPct val="100000"/>
        </a:lnSpc>
        <a:spcBef>
          <a:spcPts val="0"/>
        </a:spcBef>
        <a:spcAft>
          <a:spcPts val="0"/>
        </a:spcAft>
        <a:buFont typeface="Arial"/>
        <a:buChar char="•"/>
        <a:defRPr lang="en-US" sz="3200" b="0" i="0">
          <a:solidFill>
            <a:schemeClr val="dk1"/>
          </a:solidFill>
          <a:latin typeface="Calibri"/>
          <a:ea typeface="ＭＳ Ｐゴシック"/>
        </a:defRPr>
      </a:lvl1pPr>
      <a:lvl2pPr marL="742950" indent="457200" algn="l" defTabSz="457200" rtl="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800" b="0" i="0">
          <a:solidFill>
            <a:schemeClr val="dk1"/>
          </a:solidFill>
          <a:latin typeface="Calibri"/>
        </a:defRPr>
      </a:lvl2pPr>
      <a:lvl3pPr marL="1143000" indent="914400" algn="l" defTabSz="457200" rtl="0">
        <a:lnSpc>
          <a:spcPct val="100000"/>
        </a:lnSpc>
        <a:spcBef>
          <a:spcPts val="0"/>
        </a:spcBef>
        <a:spcAft>
          <a:spcPts val="0"/>
        </a:spcAft>
        <a:buChar char="•"/>
        <a:defRPr lang="en-US" sz="2400" b="0" i="0">
          <a:solidFill>
            <a:schemeClr val="dk1"/>
          </a:solidFill>
          <a:latin typeface="Calibri"/>
        </a:defRPr>
      </a:lvl3pPr>
      <a:lvl4pPr marL="1600200" indent="1371600" algn="l" defTabSz="457200" rtl="0">
        <a:lnSpc>
          <a:spcPct val="100000"/>
        </a:lnSpc>
        <a:spcBef>
          <a:spcPts val="0"/>
        </a:spcBef>
        <a:spcAft>
          <a:spcPts val="0"/>
        </a:spcAft>
        <a:buChar char="–"/>
        <a:defRPr lang="en-US" sz="2000" b="0" i="0">
          <a:solidFill>
            <a:schemeClr val="dk1"/>
          </a:solidFill>
          <a:latin typeface="Calibri"/>
        </a:defRPr>
      </a:lvl4pPr>
      <a:lvl5pPr marL="2057400" indent="1828800" algn="l" defTabSz="457200" rtl="0">
        <a:lnSpc>
          <a:spcPct val="100000"/>
        </a:lnSpc>
        <a:spcBef>
          <a:spcPts val="0"/>
        </a:spcBef>
        <a:spcAft>
          <a:spcPts val="0"/>
        </a:spcAft>
        <a:buChar char="»"/>
        <a:defRPr lang="en-US" sz="2000" b="0" i="0">
          <a:solidFill>
            <a:schemeClr val="dk1"/>
          </a:solidFill>
          <a:latin typeface="Calibri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1pPr>
      <a:lvl2pPr marL="457200" indent="4572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2pPr>
      <a:lvl3pPr marL="914400" indent="9144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3pPr>
      <a:lvl4pPr marL="1371600" indent="13716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4pPr>
      <a:lvl5pPr marL="1828800" indent="1828800" algn="l" defTabSz="457200" rtl="0">
        <a:lnSpc>
          <a:spcPct val="100000"/>
        </a:lnSpc>
        <a:spcBef>
          <a:spcPts val="0"/>
        </a:spcBef>
        <a:spcAft>
          <a:spcPts val="0"/>
        </a:spcAft>
        <a:buNone/>
        <a:defRPr lang="en-US" sz="2400" b="0" i="0">
          <a:solidFill>
            <a:schemeClr val="dk1"/>
          </a:solidFill>
          <a:latin typeface="Arial"/>
          <a:ea typeface="ＭＳ Ｐゴシック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jpg"/><Relationship Id="rId8" Type="http://schemas.openxmlformats.org/officeDocument/2006/relationships/image" Target="../media/image1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7.jpg"/><Relationship Id="rId5" Type="http://schemas.openxmlformats.org/officeDocument/2006/relationships/image" Target="../media/image18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CDA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0336922" name="Imagem 3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3314700" y="2374900"/>
            <a:ext cx="2514600" cy="210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5CDA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376032" name="Text Box 3"/>
          <p:cNvSpPr txBox="1">
            <a:spLocks noChangeShapeType="1" noGrp="1"/>
          </p:cNvSpPr>
          <p:nvPr/>
        </p:nvSpPr>
        <p:spPr bwMode="auto">
          <a:xfrm>
            <a:off x="576262" y="920750"/>
            <a:ext cx="7991475" cy="3429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André Guilherme dos Santos Neto</a:t>
            </a:r>
            <a:endParaRPr/>
          </a:p>
        </p:txBody>
      </p:sp>
      <p:sp>
        <p:nvSpPr>
          <p:cNvPr id="849524052" name="Text Box 4"/>
          <p:cNvSpPr txBox="1">
            <a:spLocks noChangeShapeType="1" noGrp="1"/>
          </p:cNvSpPr>
          <p:nvPr/>
        </p:nvSpPr>
        <p:spPr bwMode="auto">
          <a:xfrm>
            <a:off x="468312" y="1909762"/>
            <a:ext cx="7991475" cy="1360487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2800">
                <a:solidFill>
                  <a:srgbClr val="6E593E"/>
                </a:solidFill>
                <a:latin typeface="Arrus BT Roman"/>
                <a:ea typeface="Arrus BT Roman"/>
              </a:rPr>
              <a:t>Metrics of Automatic Image Quality Assessment based on Human Perception</a:t>
            </a:r>
            <a:endParaRPr/>
          </a:p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2400">
                <a:solidFill>
                  <a:srgbClr val="6E593E"/>
                </a:solidFill>
                <a:latin typeface="Arrus BT Roman"/>
                <a:ea typeface="Arrus BT Roman"/>
              </a:rPr>
              <a:t>A Comparative Study and a Proprosal of a New Metric</a:t>
            </a:r>
            <a:endParaRPr/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lang="en-US" sz="1400"/>
          </a:p>
          <a:p>
            <a:pPr marL="0" lvl="0" indent="0" algn="ctr">
              <a:spcBef>
                <a:spcPts val="0"/>
              </a:spcBef>
              <a:buNone/>
              <a:defRPr/>
            </a:pPr>
            <a:endParaRPr/>
          </a:p>
        </p:txBody>
      </p:sp>
      <p:sp>
        <p:nvSpPr>
          <p:cNvPr id="1725192158" name="Text Box 6"/>
          <p:cNvSpPr txBox="1">
            <a:spLocks noChangeShapeType="1" noGrp="1"/>
          </p:cNvSpPr>
          <p:nvPr/>
        </p:nvSpPr>
        <p:spPr bwMode="auto">
          <a:xfrm>
            <a:off x="2468562" y="5791200"/>
            <a:ext cx="4343400" cy="6858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Arrus BT Roman"/>
                <a:ea typeface="Arrus BT Roman"/>
              </a:rPr>
              <a:t>Setembro de 2025</a:t>
            </a:r>
            <a:endParaRPr/>
          </a:p>
        </p:txBody>
      </p:sp>
      <p:sp>
        <p:nvSpPr>
          <p:cNvPr id="545481226" name="Text Box 5"/>
          <p:cNvSpPr txBox="1">
            <a:spLocks noChangeShapeType="1" noGrp="1"/>
          </p:cNvSpPr>
          <p:nvPr/>
        </p:nvSpPr>
        <p:spPr bwMode="auto">
          <a:xfrm>
            <a:off x="949325" y="3916362"/>
            <a:ext cx="7245350" cy="1230312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Dissertação no âmbito do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Mestrado em Engenharia Eletrotécnica e de Computadores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 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orientada pelo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 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Professo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r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 Doutor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Nuno Miguel Mendonça da Silva Gonçalves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 e apresentada </a:t>
            </a:r>
            <a:r>
              <a:rPr lang="pt-BR" sz="1400">
                <a:solidFill>
                  <a:srgbClr val="6E593E"/>
                </a:solidFill>
                <a:latin typeface="Arrus BT Roman"/>
                <a:ea typeface="Arrus BT Roman"/>
              </a:rPr>
              <a:t>ao Departamento de Engenharia Eletrotécnica e de Computadores da Faculdade de Ciências e Tecnologia da Universidade de Coimbra</a:t>
            </a:r>
            <a:r>
              <a:rPr lang="pt-PT" sz="1400">
                <a:solidFill>
                  <a:srgbClr val="6E593E"/>
                </a:solidFill>
                <a:latin typeface="Arrus BT Roman"/>
                <a:ea typeface="Arrus BT Roman"/>
              </a:rPr>
              <a:t>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887607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764972604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787985819" name="TextBox 3"/>
          <p:cNvSpPr txBox="1">
            <a:spLocks noChangeShapeType="1" noGrp="1"/>
          </p:cNvSpPr>
          <p:nvPr/>
        </p:nvSpPr>
        <p:spPr bwMode="auto">
          <a:xfrm flipH="0" flipV="0">
            <a:off x="563727" y="1385886"/>
            <a:ext cx="8076019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Image Quality Assessment</a:t>
            </a:r>
            <a:endParaRPr/>
          </a:p>
        </p:txBody>
      </p:sp>
      <p:pic>
        <p:nvPicPr>
          <p:cNvPr id="188247495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468254952" name="TextBox 3"/>
          <p:cNvSpPr txBox="1">
            <a:spLocks noChangeShapeType="1" noGrp="1"/>
          </p:cNvSpPr>
          <p:nvPr/>
        </p:nvSpPr>
        <p:spPr bwMode="auto">
          <a:xfrm flipH="0" flipV="0">
            <a:off x="2136129" y="6088487"/>
            <a:ext cx="2299929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Subjective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815719074" name="TextBox 3"/>
          <p:cNvSpPr txBox="1">
            <a:spLocks noChangeShapeType="1" noGrp="1"/>
          </p:cNvSpPr>
          <p:nvPr/>
        </p:nvSpPr>
        <p:spPr bwMode="auto">
          <a:xfrm flipH="0" flipV="0">
            <a:off x="4612428" y="6088487"/>
            <a:ext cx="2306050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Objective</a:t>
            </a: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328164035" name="TextBox 3"/>
          <p:cNvSpPr txBox="1">
            <a:spLocks noChangeShapeType="1" noGrp="1"/>
          </p:cNvSpPr>
          <p:nvPr/>
        </p:nvSpPr>
        <p:spPr bwMode="auto">
          <a:xfrm flipH="0" flipV="0">
            <a:off x="563727" y="2063748"/>
            <a:ext cx="8075299" cy="17377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Image Quality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is how well an image preserves visual fidelity and usability for human or machine perception.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Image Quality Assessment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(IQA) is the systematic evaluation of this quality.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sz="1200"/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There are two categories of IQA: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Subjective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 relies on human observers to evaluate the quality of a given image, outputing a score known as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Mean Opinion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Score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(MOS).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Objective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 computational models, called metrics, can automatically estimate image quality.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189857711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324718" y="4129462"/>
            <a:ext cx="1922751" cy="1884473"/>
          </a:xfrm>
          <a:prstGeom prst="rect">
            <a:avLst/>
          </a:prstGeom>
        </p:spPr>
      </p:pic>
      <p:sp>
        <p:nvSpPr>
          <p:cNvPr id="44270990" name="TextBox 3"/>
          <p:cNvSpPr txBox="1">
            <a:spLocks noChangeShapeType="1" noGrp="1"/>
          </p:cNvSpPr>
          <p:nvPr/>
        </p:nvSpPr>
        <p:spPr bwMode="auto">
          <a:xfrm flipH="0" flipV="0">
            <a:off x="4572000" y="5739256"/>
            <a:ext cx="2489625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score = 75%</a:t>
            </a: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92832170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666410" y="4129462"/>
            <a:ext cx="2300803" cy="1577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28346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84424" y="3931525"/>
            <a:ext cx="2042378" cy="2042378"/>
          </a:xfrm>
          <a:prstGeom prst="rect">
            <a:avLst/>
          </a:prstGeom>
        </p:spPr>
      </p:pic>
      <p:sp>
        <p:nvSpPr>
          <p:cNvPr id="1060277483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5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060162686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0904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Objective Image Quality Assessment</a:t>
            </a:r>
            <a:endParaRPr/>
          </a:p>
        </p:txBody>
      </p:sp>
      <p:pic>
        <p:nvPicPr>
          <p:cNvPr id="1828822288" name="Imagem 5"/>
          <p:cNvPicPr>
            <a:picLocks noChangeAspect="1" noGrp="1"/>
          </p:cNvPicPr>
          <p:nvPr/>
        </p:nvPicPr>
        <p:blipFill>
          <a:blip r:embed="rId4"/>
          <a:stretch/>
        </p:blipFill>
        <p:spPr bwMode="auto">
          <a:xfrm>
            <a:off x="6300787" y="333375"/>
            <a:ext cx="2336800" cy="419100"/>
          </a:xfrm>
          <a:prstGeom prst="rect">
            <a:avLst/>
          </a:prstGeom>
          <a:noFill/>
        </p:spPr>
      </p:pic>
      <p:sp>
        <p:nvSpPr>
          <p:cNvPr id="1437644889" name="TextBox 3"/>
          <p:cNvSpPr txBox="1">
            <a:spLocks noChangeShapeType="1" noGrp="1"/>
          </p:cNvSpPr>
          <p:nvPr/>
        </p:nvSpPr>
        <p:spPr bwMode="auto">
          <a:xfrm flipH="0" flipV="0">
            <a:off x="563726" y="2063748"/>
            <a:ext cx="8012166" cy="137196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There are two main types of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Objective IQA 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metrics: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Full-Reference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(FR): requires the original image to output the quality of its distorted version. It gives reliable scores, but is impractical in most real life scenarios.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No-Reference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(NR):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outputs the quality of an image without comparing it to an original version. It is often missaligned with human subjective perception.</a:t>
            </a:r>
            <a:endParaRPr lang="pt-BR" sz="12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755326978" name="TextBox 3"/>
          <p:cNvSpPr txBox="1">
            <a:spLocks noChangeShapeType="1" noGrp="1"/>
          </p:cNvSpPr>
          <p:nvPr/>
        </p:nvSpPr>
        <p:spPr bwMode="auto">
          <a:xfrm flipH="0" flipV="0">
            <a:off x="884424" y="6031195"/>
            <a:ext cx="2046338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Reference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304941911" name="TextBox 3"/>
          <p:cNvSpPr txBox="1">
            <a:spLocks noChangeShapeType="1" noGrp="1"/>
          </p:cNvSpPr>
          <p:nvPr/>
        </p:nvSpPr>
        <p:spPr bwMode="auto">
          <a:xfrm flipH="0" flipV="0">
            <a:off x="3358157" y="6031195"/>
            <a:ext cx="2045354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Distorted</a:t>
            </a:r>
            <a:endParaRPr lang="pt-BR" sz="120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55428811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58157" y="3929268"/>
            <a:ext cx="2044634" cy="2044634"/>
          </a:xfrm>
          <a:prstGeom prst="rect">
            <a:avLst/>
          </a:prstGeom>
        </p:spPr>
      </p:pic>
      <p:sp>
        <p:nvSpPr>
          <p:cNvPr id="2066859954" name="TextBox 3"/>
          <p:cNvSpPr txBox="1">
            <a:spLocks noChangeShapeType="1" noGrp="1"/>
          </p:cNvSpPr>
          <p:nvPr/>
        </p:nvSpPr>
        <p:spPr bwMode="auto">
          <a:xfrm flipH="0" flipV="0">
            <a:off x="5689022" y="4174166"/>
            <a:ext cx="2886870" cy="155484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Evaluations on the distorted image: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MOS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(ground truth)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= 0.42</a:t>
            </a: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FR-IQA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metrics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=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0.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38</a:t>
            </a: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1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NR-IQA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metrics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= 0.79</a:t>
            </a:r>
            <a:endParaRPr lang="pt-BR" sz="1200" b="1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122353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026352473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099076413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6304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Face Image Quality Assessment</a:t>
            </a:r>
            <a:endParaRPr/>
          </a:p>
        </p:txBody>
      </p:sp>
      <p:pic>
        <p:nvPicPr>
          <p:cNvPr id="87394085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816531049" name="TextBox 3"/>
          <p:cNvSpPr txBox="1">
            <a:spLocks noChangeShapeType="1" noGrp="1"/>
          </p:cNvSpPr>
          <p:nvPr/>
        </p:nvSpPr>
        <p:spPr bwMode="auto">
          <a:xfrm flipH="0" flipV="0">
            <a:off x="563726" y="2063748"/>
            <a:ext cx="8075299" cy="2652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High quality facial images are essential for accuracte recognition in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security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forensics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and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surveillance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FIQA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must 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account for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Pose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head and shoulder positionning;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Occlusion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certain parts of the face being obstructed;</a:t>
            </a:r>
            <a:endParaRPr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Facial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features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expression, emotions, etc;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Head wear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hat, cap, bandana, glasses, make up, masks, etc;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marL="342900" lvl="0" indent="0">
              <a:spcBef>
                <a:spcPts val="0"/>
              </a:spcBef>
              <a:buFont typeface="Arial"/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1">
                <a:solidFill>
                  <a:srgbClr val="6E593E"/>
                </a:solidFill>
                <a:latin typeface="Verdana"/>
              </a:rPr>
              <a:t> Demographic variability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age, ethnicity, gender, etc.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766803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686076821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32771941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1666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No-Reference Facial Image Quality Assessment Limitations</a:t>
            </a:r>
            <a:endParaRPr/>
          </a:p>
        </p:txBody>
      </p:sp>
      <p:pic>
        <p:nvPicPr>
          <p:cNvPr id="539733422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166708869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40977" y="2063748"/>
            <a:ext cx="2896609" cy="4100513"/>
          </a:xfrm>
          <a:prstGeom prst="rect">
            <a:avLst/>
          </a:prstGeom>
        </p:spPr>
      </p:pic>
      <p:sp>
        <p:nvSpPr>
          <p:cNvPr id="2119250965" name=""/>
          <p:cNvSpPr txBox="1"/>
          <p:nvPr/>
        </p:nvSpPr>
        <p:spPr bwMode="auto">
          <a:xfrm rot="0" flipH="0" flipV="0">
            <a:off x="563726" y="2063748"/>
            <a:ext cx="4491343" cy="2835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Human ratings are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biased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towards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ethnicity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gender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age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;</a:t>
            </a:r>
            <a:endParaRPr lang="pt-BR" sz="600">
              <a:solidFill>
                <a:srgbClr val="6E593E"/>
              </a:solidFill>
              <a:latin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By International Telecommunication Union - Radiocommunication Sector (ITU-R) Recommendations standards, each image needs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~30 evaluations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Gathering sufficient, reliable MOS is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time-consuming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costly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... What if we could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replicate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MOS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from a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small annotated unbiased subset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?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813100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838745604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66453203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32862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Face Research Lab London (FRLL) Set</a:t>
            </a:r>
            <a:endParaRPr/>
          </a:p>
        </p:txBody>
      </p:sp>
      <p:pic>
        <p:nvPicPr>
          <p:cNvPr id="110003213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7644764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3726" y="2063748"/>
            <a:ext cx="8073859" cy="3603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507419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693526824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8822021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51581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Printer-proof Steganographic Distortions</a:t>
            </a:r>
            <a:endParaRPr/>
          </a:p>
        </p:txBody>
      </p:sp>
      <p:pic>
        <p:nvPicPr>
          <p:cNvPr id="105410094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60767670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172004" y="4381723"/>
            <a:ext cx="1498038" cy="1498038"/>
          </a:xfrm>
          <a:prstGeom prst="rect">
            <a:avLst/>
          </a:prstGeom>
        </p:spPr>
      </p:pic>
      <p:pic>
        <p:nvPicPr>
          <p:cNvPr id="87963445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464541" y="4379746"/>
            <a:ext cx="1499027" cy="1499027"/>
          </a:xfrm>
          <a:prstGeom prst="rect">
            <a:avLst/>
          </a:prstGeom>
        </p:spPr>
      </p:pic>
      <p:pic>
        <p:nvPicPr>
          <p:cNvPr id="1107315690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7104769" y="4380735"/>
            <a:ext cx="1498038" cy="1498038"/>
          </a:xfrm>
          <a:prstGeom prst="rect">
            <a:avLst/>
          </a:prstGeom>
        </p:spPr>
      </p:pic>
      <p:pic>
        <p:nvPicPr>
          <p:cNvPr id="721847911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3822259" y="4381723"/>
            <a:ext cx="1498038" cy="1498038"/>
          </a:xfrm>
          <a:prstGeom prst="rect">
            <a:avLst/>
          </a:prstGeom>
        </p:spPr>
      </p:pic>
      <p:pic>
        <p:nvPicPr>
          <p:cNvPr id="426717302" name="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 flipH="0" flipV="0">
            <a:off x="528949" y="4381723"/>
            <a:ext cx="1495849" cy="1498038"/>
          </a:xfrm>
          <a:prstGeom prst="rect">
            <a:avLst/>
          </a:prstGeom>
        </p:spPr>
      </p:pic>
      <p:sp>
        <p:nvSpPr>
          <p:cNvPr id="1045230563" name=""/>
          <p:cNvSpPr txBox="1"/>
          <p:nvPr/>
        </p:nvSpPr>
        <p:spPr bwMode="auto">
          <a:xfrm rot="0" flipH="0" flipV="0">
            <a:off x="532713" y="5961193"/>
            <a:ext cx="14942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Reference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2029164391" name=""/>
          <p:cNvSpPr txBox="1"/>
          <p:nvPr/>
        </p:nvSpPr>
        <p:spPr bwMode="auto">
          <a:xfrm rot="0" flipH="0" flipV="0">
            <a:off x="2172004" y="5961193"/>
            <a:ext cx="14987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StegaStamp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448380549" name=""/>
          <p:cNvSpPr txBox="1"/>
          <p:nvPr/>
        </p:nvSpPr>
        <p:spPr bwMode="auto">
          <a:xfrm rot="0" flipH="0" flipV="0">
            <a:off x="3822259" y="5961193"/>
            <a:ext cx="14994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CodeFace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1151905632" name=""/>
          <p:cNvSpPr txBox="1"/>
          <p:nvPr/>
        </p:nvSpPr>
        <p:spPr bwMode="auto">
          <a:xfrm rot="0" flipH="0" flipV="0">
            <a:off x="5464541" y="5961193"/>
            <a:ext cx="14997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RiemStega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894062728" name=""/>
          <p:cNvSpPr txBox="1"/>
          <p:nvPr/>
        </p:nvSpPr>
        <p:spPr bwMode="auto">
          <a:xfrm rot="0" flipH="0" flipV="0">
            <a:off x="7104769" y="5961193"/>
            <a:ext cx="14987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ctr">
              <a:spcBef>
                <a:spcPts val="0"/>
              </a:spcBef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StampOne</a:t>
            </a:r>
            <a:endParaRPr lang="pt-BR" sz="60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253183915" name=""/>
          <p:cNvSpPr txBox="1"/>
          <p:nvPr/>
        </p:nvSpPr>
        <p:spPr bwMode="auto">
          <a:xfrm rot="0" flipH="0" flipV="0">
            <a:off x="567490" y="2063748"/>
            <a:ext cx="8145139" cy="174317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steganography</a:t>
            </a:r>
            <a:endParaRPr lang="pt-BR" sz="1200" b="1" i="0" u="none" strike="noStrike" cap="none" spc="0">
              <a:solidFill>
                <a:srgbClr val="6E593E"/>
              </a:solidFill>
              <a:latin typeface="Verdana"/>
              <a:ea typeface="Verdana"/>
              <a:cs typeface="Verdana"/>
            </a:endParaRPr>
          </a:p>
          <a:p>
            <a:pPr algn="ctr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/ˌstɛɡəˈnɒɡrəfi/ · noun · [uncountable]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en-US" sz="1200" b="0" i="1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The practice of writing hidden messages in ordinary text, pictures, etc.</a:t>
            </a: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ctr">
              <a:spcBef>
                <a:spcPts val="0"/>
              </a:spcBef>
              <a:buNone/>
              <a:defRPr/>
            </a:pPr>
            <a:endParaRPr sz="1200" b="0" i="1">
              <a:solidFill>
                <a:srgbClr val="6E593E"/>
              </a:solidFill>
              <a:latin typeface="Verdana"/>
            </a:endParaRPr>
          </a:p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We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encoded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102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 images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with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4 different steganography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methods, at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9 levels of intensity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each, resulting in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a total of 3672 images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.</a:t>
            </a:r>
            <a:endParaRPr sz="1200" b="0" i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866784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092517000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09640576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54821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Dataset</a:t>
            </a:r>
            <a:endParaRPr/>
          </a:p>
        </p:txBody>
      </p:sp>
      <p:pic>
        <p:nvPicPr>
          <p:cNvPr id="71248140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380710069" name=""/>
          <p:cNvSpPr txBox="1"/>
          <p:nvPr/>
        </p:nvSpPr>
        <p:spPr bwMode="auto">
          <a:xfrm rot="0" flipH="0" flipV="0">
            <a:off x="563726" y="2063748"/>
            <a:ext cx="1819461" cy="30178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lvl="0" indent="0" algn="l">
              <a:spcBef>
                <a:spcPts val="0"/>
              </a:spcBef>
              <a:buNone/>
              <a:defRPr/>
            </a:pPr>
            <a:r>
              <a:rPr lang="pt-BR" sz="1200" b="1" i="0">
                <a:solidFill>
                  <a:srgbClr val="6E593E"/>
                </a:solidFill>
                <a:latin typeface="Verdana"/>
              </a:rPr>
              <a:t>MOS set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15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540 images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      MOS train set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: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marL="617842" lvl="1" indent="-217792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12 identities</a:t>
            </a:r>
            <a:endParaRPr sz="1200" b="0" i="0">
              <a:solidFill>
                <a:srgbClr val="6E593E"/>
              </a:solidFill>
              <a:latin typeface="Verdana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360 images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       </a:t>
            </a:r>
            <a:r>
              <a:rPr lang="pt-BR" sz="1200" b="1" i="0">
                <a:solidFill>
                  <a:srgbClr val="6E593E"/>
                </a:solidFill>
                <a:latin typeface="Verdana"/>
              </a:rPr>
              <a:t>MOS test set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:</a:t>
            </a:r>
            <a:endParaRPr lang="pt-BR" sz="1200" b="0" i="0" u="none" strike="noStrike" cap="none" spc="0">
              <a:solidFill>
                <a:srgbClr val="6E593E"/>
              </a:solidFill>
              <a:latin typeface="Times New Roman"/>
              <a:cs typeface="Times New Roman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3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617843" lvl="1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90 images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1" algn="l">
              <a:spcBef>
                <a:spcPts val="0"/>
              </a:spcBef>
              <a:defRPr/>
            </a:pP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defRPr/>
            </a:pPr>
            <a:r>
              <a:rPr lang="pt-BR" sz="1200" b="1" i="0">
                <a:solidFill>
                  <a:srgbClr val="6E593E"/>
                </a:solidFill>
                <a:latin typeface="Verdana"/>
              </a:rPr>
              <a:t>Pseudo-MOS set:</a:t>
            </a:r>
            <a:endParaRPr lang="pt-BR" sz="1200" b="1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87 identities</a:t>
            </a:r>
            <a:endParaRPr lang="pt-BR" sz="1200" b="0" i="0">
              <a:solidFill>
                <a:srgbClr val="6E593E"/>
              </a:solidFill>
              <a:latin typeface="Verdana"/>
            </a:endParaRPr>
          </a:p>
          <a:p>
            <a:pPr marL="217793" lvl="0" indent="-217793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 i="0">
                <a:solidFill>
                  <a:srgbClr val="6E593E"/>
                </a:solidFill>
                <a:latin typeface="Verdana"/>
              </a:rPr>
              <a:t>3.13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2</a:t>
            </a:r>
            <a:r>
              <a:rPr lang="pt-BR" sz="1200" b="0" i="0">
                <a:solidFill>
                  <a:srgbClr val="6E593E"/>
                </a:solidFill>
                <a:latin typeface="Verdana"/>
              </a:rPr>
              <a:t> images</a:t>
            </a:r>
            <a:endParaRPr sz="1200" b="0" i="0">
              <a:solidFill>
                <a:srgbClr val="6E593E"/>
              </a:solidFill>
              <a:latin typeface="Verdana"/>
            </a:endParaRPr>
          </a:p>
        </p:txBody>
      </p:sp>
      <p:pic>
        <p:nvPicPr>
          <p:cNvPr id="4307391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566941" y="2039147"/>
            <a:ext cx="4646132" cy="3483033"/>
          </a:xfrm>
          <a:prstGeom prst="rect">
            <a:avLst/>
          </a:prstGeom>
        </p:spPr>
      </p:pic>
      <p:pic>
        <p:nvPicPr>
          <p:cNvPr id="182870745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7475011" y="2039147"/>
            <a:ext cx="1162575" cy="3483033"/>
          </a:xfrm>
          <a:prstGeom prst="rect">
            <a:avLst/>
          </a:prstGeom>
        </p:spPr>
      </p:pic>
      <p:sp>
        <p:nvSpPr>
          <p:cNvPr id="2043088511" name="TextBox 3"/>
          <p:cNvSpPr txBox="1">
            <a:spLocks noChangeShapeType="1" noGrp="1"/>
          </p:cNvSpPr>
          <p:nvPr/>
        </p:nvSpPr>
        <p:spPr bwMode="auto">
          <a:xfrm flipH="0" flipV="0">
            <a:off x="2566941" y="5619739"/>
            <a:ext cx="4646852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MOS train set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  <p:sp>
        <p:nvSpPr>
          <p:cNvPr id="61314284" name="TextBox 3"/>
          <p:cNvSpPr txBox="1">
            <a:spLocks noChangeShapeType="1" noGrp="1"/>
          </p:cNvSpPr>
          <p:nvPr/>
        </p:nvSpPr>
        <p:spPr bwMode="auto">
          <a:xfrm flipH="0" flipV="0">
            <a:off x="7475011" y="5619739"/>
            <a:ext cx="1191231" cy="27467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MOS test set</a:t>
            </a:r>
            <a:endParaRPr sz="1200" b="0">
              <a:solidFill>
                <a:srgbClr val="6E593E"/>
              </a:solidFill>
              <a:latin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371421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534110411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57071836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267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Subjective Labeling Protocol</a:t>
            </a:r>
            <a:endParaRPr/>
          </a:p>
        </p:txBody>
      </p:sp>
      <p:pic>
        <p:nvPicPr>
          <p:cNvPr id="1177707078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1715185820" name=""/>
          <p:cNvSpPr txBox="1"/>
          <p:nvPr/>
        </p:nvSpPr>
        <p:spPr bwMode="auto">
          <a:xfrm rot="0" flipH="0" flipV="0">
            <a:off x="563726" y="2063748"/>
            <a:ext cx="8116699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Custom web application built with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Django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for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MOS collection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;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Adopted ITU-R BT.500-15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Single Stimulus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protocol;</a:t>
            </a: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lang="pt-BR" sz="120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>
                <a:solidFill>
                  <a:srgbClr val="6E593E"/>
                </a:solidFill>
                <a:latin typeface="Verdana"/>
              </a:rPr>
              <a:t> Over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200 participants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rated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~70 images</a:t>
            </a:r>
            <a:r>
              <a:rPr lang="pt-BR" sz="1200">
                <a:solidFill>
                  <a:srgbClr val="6E593E"/>
                </a:solidFill>
                <a:latin typeface="Verdana"/>
              </a:rPr>
              <a:t> each, resulting in over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14.000 ratings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;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endParaRPr sz="1200" b="0">
              <a:solidFill>
                <a:srgbClr val="6E593E"/>
              </a:solidFill>
              <a:latin typeface="Verdana"/>
            </a:endParaRPr>
          </a:p>
          <a:p>
            <a:pPr lvl="0" algn="l">
              <a:spcBef>
                <a:spcPts val="0"/>
              </a:spcBef>
              <a:buFont typeface="Arial"/>
              <a:buChar char="–"/>
              <a:defRPr/>
            </a:pPr>
            <a:r>
              <a:rPr lang="pt-BR" sz="1200" b="0">
                <a:solidFill>
                  <a:srgbClr val="6E593E"/>
                </a:solidFill>
                <a:latin typeface="Verdana"/>
              </a:rPr>
              <a:t> Information collected: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gender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age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ethnicity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 </a:t>
            </a:r>
            <a:r>
              <a:rPr lang="pt-BR" sz="1200" b="1">
                <a:solidFill>
                  <a:srgbClr val="6E593E"/>
                </a:solidFill>
                <a:latin typeface="Verdana"/>
              </a:rPr>
              <a:t>country of origin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,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education level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 etc</a:t>
            </a:r>
            <a:r>
              <a:rPr lang="pt-BR" sz="1200" b="0">
                <a:solidFill>
                  <a:srgbClr val="6E593E"/>
                </a:solidFill>
                <a:latin typeface="Verdana"/>
              </a:rPr>
              <a:t>.</a:t>
            </a:r>
            <a:endParaRPr lang="pt-BR" sz="1200" b="0">
              <a:solidFill>
                <a:srgbClr val="6E593E"/>
              </a:solidFill>
              <a:latin typeface="Verdana"/>
            </a:endParaRPr>
          </a:p>
          <a:p>
            <a:pPr lvl="0" algn="ctr">
              <a:spcBef>
                <a:spcPts val="0"/>
              </a:spcBef>
              <a:defRPr/>
            </a:pPr>
            <a:endParaRPr lang="pt-BR" sz="1200" b="0">
              <a:solidFill>
                <a:srgbClr val="6E593E"/>
              </a:solidFill>
              <a:latin typeface="Verdana"/>
            </a:endParaRPr>
          </a:p>
        </p:txBody>
      </p:sp>
      <p:graphicFrame>
        <p:nvGraphicFramePr>
          <p:cNvPr id="1326706189" name=""/>
          <p:cNvGraphicFramePr>
            <a:graphicFrameLocks xmlns:a="http://schemas.openxmlformats.org/drawingml/2006/main"/>
          </p:cNvGraphicFramePr>
          <p:nvPr/>
        </p:nvGraphicFramePr>
        <p:xfrm>
          <a:off x="2630500" y="3866101"/>
          <a:ext cx="1501405" cy="17420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44352"/>
                <a:gridCol w="744352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Age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&lt;18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18-25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85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26-40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54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41-60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&gt;60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9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0457258" name=""/>
          <p:cNvGraphicFramePr>
            <a:graphicFrameLocks xmlns:a="http://schemas.openxmlformats.org/drawingml/2006/main"/>
          </p:cNvGraphicFramePr>
          <p:nvPr/>
        </p:nvGraphicFramePr>
        <p:xfrm>
          <a:off x="563726" y="3866101"/>
          <a:ext cx="1558544" cy="89195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41089"/>
                <a:gridCol w="704756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Gender</a:t>
                      </a:r>
                      <a:endParaRPr sz="1200" b="1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Male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143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Female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59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9570128" name=""/>
          <p:cNvGraphicFramePr>
            <a:graphicFrameLocks xmlns:a="http://schemas.openxmlformats.org/drawingml/2006/main"/>
          </p:cNvGraphicFramePr>
          <p:nvPr/>
        </p:nvGraphicFramePr>
        <p:xfrm>
          <a:off x="4622076" y="3866101"/>
          <a:ext cx="1750878" cy="174207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0000"/>
                <a:gridCol w="748179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Ethnicity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White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177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Latino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Black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Multiracial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Oher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2828554" name=""/>
          <p:cNvGraphicFramePr>
            <a:graphicFrameLocks xmlns:a="http://schemas.openxmlformats.org/drawingml/2006/main"/>
          </p:cNvGraphicFramePr>
          <p:nvPr/>
        </p:nvGraphicFramePr>
        <p:xfrm>
          <a:off x="6839083" y="3866101"/>
          <a:ext cx="1750878" cy="174207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0000"/>
                <a:gridCol w="748179"/>
              </a:tblGrid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Country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Count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30346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Portugal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170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Brazil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Russia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India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878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Ohers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924386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573936928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763467008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078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>
                <a:solidFill>
                  <a:srgbClr val="6E593E"/>
                </a:solidFill>
                <a:latin typeface="Verdana"/>
              </a:rPr>
              <a:t>Removing Bias from Human Scores</a:t>
            </a:r>
            <a:endParaRPr/>
          </a:p>
        </p:txBody>
      </p:sp>
      <p:pic>
        <p:nvPicPr>
          <p:cNvPr id="1511804235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graphicFrame>
        <p:nvGraphicFramePr>
          <p:cNvPr id="1684570899" name=""/>
          <p:cNvGraphicFramePr>
            <a:graphicFrameLocks xmlns:a="http://schemas.openxmlformats.org/drawingml/2006/main"/>
          </p:cNvGraphicFramePr>
          <p:nvPr/>
        </p:nvGraphicFramePr>
        <p:xfrm>
          <a:off x="563726" y="3004342"/>
          <a:ext cx="8006309" cy="221981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3870000"/>
                <a:gridCol w="1710000"/>
                <a:gridCol w="2413610"/>
              </a:tblGrid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Factor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p-value</a:t>
                      </a:r>
                      <a:endParaRPr lang="pt-BR" sz="12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latin typeface="Verdana"/>
                          <a:ea typeface="Verdana"/>
                          <a:cs typeface="Verdana"/>
                        </a:rPr>
                        <a:t>p-value (residualized)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2868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attractiveness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0.3173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0.3173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0.022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0.9930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ethnicity</a:t>
                      </a:r>
                      <a:endParaRPr sz="12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8.44 × 10^−4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0437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1.60 × 10^−3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0.9720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Subject ethnicity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7.36 × 10^−3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gender × Subject gender</a:t>
                      </a:r>
                      <a:endParaRPr sz="12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0.6417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0.6417</a:t>
                      </a:r>
                      <a:endParaRPr sz="12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2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Observer ethnicity × Subject ethnicity</a:t>
                      </a:r>
                      <a:endParaRPr lang="pt-BR" sz="120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0.0582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2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0.0582</a:t>
                      </a:r>
                      <a:endParaRPr lang="pt-BR" sz="12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sp>
        <p:nvSpPr>
          <p:cNvPr id="1974587795" name=""/>
          <p:cNvSpPr txBox="1"/>
          <p:nvPr/>
        </p:nvSpPr>
        <p:spPr bwMode="auto">
          <a:xfrm rot="0" flipH="0" flipV="0">
            <a:off x="563726" y="5423692"/>
            <a:ext cx="80228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Table shows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ANOVA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mANOVA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results for observer and image attributes. Before debiasing,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several factors show statistically significant effects on MOS,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p-value &lt; 0.05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 After residualiza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tion, all main effects show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no significant impact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confirming the effectiveness of the debiasing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procedure.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sp>
        <p:nvSpPr>
          <p:cNvPr id="1251463668" name=""/>
          <p:cNvSpPr txBox="1"/>
          <p:nvPr/>
        </p:nvSpPr>
        <p:spPr bwMode="auto">
          <a:xfrm rot="0" flipH="0" flipV="0">
            <a:off x="563726" y="2063748"/>
            <a:ext cx="802682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An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Ordinary Least Squares (OLS)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regression was fit to the MOS 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values, using observer and image attributes, and their pairwise interactions as categorical pre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dictors.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528938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2004730068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67752297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1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Relation between MOS and 40 FR-IQA Metrics</a:t>
            </a:r>
            <a:endParaRPr/>
          </a:p>
        </p:txBody>
      </p:sp>
      <p:pic>
        <p:nvPicPr>
          <p:cNvPr id="1991310314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pic>
        <p:nvPicPr>
          <p:cNvPr id="88337435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71077" y="2063748"/>
            <a:ext cx="7001844" cy="43374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88712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47745955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94086207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14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Full-Reference Fusion Metric</a:t>
            </a:r>
            <a:endParaRPr/>
          </a:p>
        </p:txBody>
      </p:sp>
      <p:pic>
        <p:nvPicPr>
          <p:cNvPr id="1490362409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500111154" name=""/>
          <p:cNvSpPr txBox="1"/>
          <p:nvPr/>
        </p:nvSpPr>
        <p:spPr bwMode="auto">
          <a:xfrm rot="0" flipH="0" flipV="0">
            <a:off x="563726" y="2063748"/>
            <a:ext cx="803006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Top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k=6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metrics were: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MS-SSIM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PSNR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PSNR-B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SNR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VIF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, and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UQI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 These stand for Multiscale Structural Similarity Index Metric, Peak Signal-to-Noise Ratio, PSNR-Blocks, Signal-to-Noise Ratio, Visual Information Fidelity, and Universal Quality Index, respectively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pic>
        <p:nvPicPr>
          <p:cNvPr id="8726321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3726" y="3159057"/>
            <a:ext cx="3776522" cy="2697516"/>
          </a:xfrm>
          <a:prstGeom prst="rect">
            <a:avLst/>
          </a:prstGeom>
        </p:spPr>
      </p:pic>
      <p:pic>
        <p:nvPicPr>
          <p:cNvPr id="78011233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859496" y="3159057"/>
            <a:ext cx="3731418" cy="26652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392132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132219551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230191900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150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Pseudo-MOS Regression Model</a:t>
            </a:r>
            <a:endParaRPr/>
          </a:p>
        </p:txBody>
      </p:sp>
      <p:pic>
        <p:nvPicPr>
          <p:cNvPr id="1449793613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837548958" name=""/>
          <p:cNvSpPr txBox="1"/>
          <p:nvPr/>
        </p:nvSpPr>
        <p:spPr bwMode="auto">
          <a:xfrm rot="0" flipH="0" flipV="0">
            <a:off x="563726" y="2521308"/>
            <a:ext cx="3937069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Table shows the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performance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of our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Fusion metric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and the selected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FR-IQA metrics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graphicFrame>
        <p:nvGraphicFramePr>
          <p:cNvPr id="1740121180" name=""/>
          <p:cNvGraphicFramePr>
            <a:graphicFrameLocks xmlns:a="http://schemas.openxmlformats.org/drawingml/2006/main"/>
          </p:cNvGraphicFramePr>
          <p:nvPr/>
        </p:nvGraphicFramePr>
        <p:xfrm>
          <a:off x="563726" y="3132666"/>
          <a:ext cx="4368106" cy="2219817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10000"/>
                <a:gridCol w="810671"/>
                <a:gridCol w="810335"/>
                <a:gridCol w="729301"/>
                <a:gridCol w="761181"/>
              </a:tblGrid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Metric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PLCC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SRCC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MSE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MAE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2868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solidFill>
                            <a:srgbClr val="6E593E"/>
                          </a:solidFill>
                          <a:latin typeface="Verdana"/>
                          <a:cs typeface="Verdana"/>
                        </a:rPr>
                        <a:t>Fusion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0.8881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0.8893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65.07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6.160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306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MS-SSIM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0.7712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0.8489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2542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47.27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PSNR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0.8009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0.8132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420.7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16.57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724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PSNR-B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0.7996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0.8126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434.8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16.84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SNR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0.7931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0.8047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493.9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18.08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VIF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0.7723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0.7671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2584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47.75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UQI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0.6866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0.8085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2540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47.24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  <p:pic>
        <p:nvPicPr>
          <p:cNvPr id="195696297" name=""/>
          <p:cNvPicPr>
            <a:picLocks noChangeAspect="1"/>
          </p:cNvPicPr>
          <p:nvPr/>
        </p:nvPicPr>
        <p:blipFill>
          <a:blip r:embed="rId4"/>
          <a:srcRect l="1229" t="2797" r="6159" b="3186"/>
          <a:stretch/>
        </p:blipFill>
        <p:spPr bwMode="auto">
          <a:xfrm flipH="0" flipV="0">
            <a:off x="4701236" y="3187339"/>
            <a:ext cx="3936348" cy="2110472"/>
          </a:xfrm>
          <a:prstGeom prst="rect">
            <a:avLst/>
          </a:prstGeom>
        </p:spPr>
      </p:pic>
      <p:sp>
        <p:nvSpPr>
          <p:cNvPr id="2038872402" name=""/>
          <p:cNvSpPr txBox="1"/>
          <p:nvPr/>
        </p:nvSpPr>
        <p:spPr bwMode="auto">
          <a:xfrm rot="0" flipH="0" flipV="0">
            <a:off x="4701236" y="2521308"/>
            <a:ext cx="3937788" cy="4575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SHAP summary plot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for k=6, generated from the best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CatBoos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model.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18965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25" y="3132666"/>
            <a:ext cx="3854643" cy="2409152"/>
          </a:xfrm>
          <a:prstGeom prst="rect">
            <a:avLst/>
          </a:prstGeom>
        </p:spPr>
      </p:pic>
      <p:sp>
        <p:nvSpPr>
          <p:cNvPr id="1312837935" name="Rectangle 8"/>
          <p:cNvSpPr>
            <a:spLocks noChangeShapeType="1" noGrp="1"/>
          </p:cNvSpPr>
          <p:nvPr/>
        </p:nvSpPr>
        <p:spPr bwMode="auto">
          <a:xfrm>
            <a:off x="-58736" y="1697036"/>
            <a:ext cx="184149" cy="366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1163116415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49173779" name="TextBox 3"/>
          <p:cNvSpPr txBox="1">
            <a:spLocks noChangeShapeType="1" noGrp="1"/>
          </p:cNvSpPr>
          <p:nvPr/>
        </p:nvSpPr>
        <p:spPr bwMode="auto">
          <a:xfrm flipH="0" flipV="0">
            <a:off x="563726" y="1385886"/>
            <a:ext cx="8245823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pMOS-StegaFace: No-Reference FIQA Model </a:t>
            </a:r>
            <a:endParaRPr/>
          </a:p>
        </p:txBody>
      </p:sp>
      <p:pic>
        <p:nvPicPr>
          <p:cNvPr id="1079987031" name="Imagem 5"/>
          <p:cNvPicPr>
            <a:picLocks noChangeAspect="1" noGrp="1"/>
          </p:cNvPicPr>
          <p:nvPr/>
        </p:nvPicPr>
        <p:blipFill>
          <a:blip r:embed="rId4"/>
          <a:stretch/>
        </p:blipFill>
        <p:spPr bwMode="auto">
          <a:xfrm>
            <a:off x="6300785" y="333374"/>
            <a:ext cx="2336799" cy="419099"/>
          </a:xfrm>
          <a:prstGeom prst="rect">
            <a:avLst/>
          </a:prstGeom>
          <a:noFill/>
        </p:spPr>
      </p:pic>
      <p:sp>
        <p:nvSpPr>
          <p:cNvPr id="23514002" name=""/>
          <p:cNvSpPr txBox="1"/>
          <p:nvPr/>
        </p:nvSpPr>
        <p:spPr bwMode="auto">
          <a:xfrm rot="0" flipH="0" flipV="0">
            <a:off x="563725" y="2063746"/>
            <a:ext cx="787673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We trained a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deep regression mode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l end-to-end using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pseudo-MOS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scores as targets/labels.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  <a:p>
            <a:pPr marL="217793" indent="-217793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The architecture is based on a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ResNet50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backbone pretrained on ImageNet.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  <a:p>
            <a:pPr marL="217793" indent="-217793" algn="just">
              <a:buFont typeface="Arial"/>
              <a:buChar char="–"/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Its final classification layer is replaced by a lightweight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multi-layer perceptron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regressor.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pic>
        <p:nvPicPr>
          <p:cNvPr id="41314415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686637" y="3132666"/>
            <a:ext cx="3854643" cy="2409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219811" name="Rectangle 8"/>
          <p:cNvSpPr>
            <a:spLocks noChangeShapeType="1" noGrp="1"/>
          </p:cNvSpPr>
          <p:nvPr/>
        </p:nvSpPr>
        <p:spPr bwMode="auto">
          <a:xfrm>
            <a:off x="-58735" y="1697035"/>
            <a:ext cx="184148" cy="3667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sz="1400"/>
          </a:p>
        </p:txBody>
      </p:sp>
      <p:sp>
        <p:nvSpPr>
          <p:cNvPr id="799644629" name="Retângulo 3"/>
          <p:cNvSpPr>
            <a:spLocks noChangeShapeType="1" noGrp="1"/>
          </p:cNvSpPr>
          <p:nvPr/>
        </p:nvSpPr>
        <p:spPr bwMode="auto">
          <a:xfrm>
            <a:off x="0" y="0"/>
            <a:ext cx="9144000" cy="981073"/>
          </a:xfrm>
          <a:prstGeom prst="rect">
            <a:avLst/>
          </a:prstGeom>
          <a:solidFill>
            <a:srgbClr val="E5CDA6"/>
          </a:solidFill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70802579" name="TextBox 3"/>
          <p:cNvSpPr txBox="1">
            <a:spLocks noChangeShapeType="1" noGrp="1"/>
          </p:cNvSpPr>
          <p:nvPr/>
        </p:nvSpPr>
        <p:spPr bwMode="auto">
          <a:xfrm flipH="0" flipV="0">
            <a:off x="563725" y="1385885"/>
            <a:ext cx="8252302" cy="366119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3200" b="0" i="0">
                <a:solidFill>
                  <a:schemeClr val="dk1"/>
                </a:solidFill>
                <a:latin typeface="Calibri"/>
                <a:ea typeface="ＭＳ Ｐゴシック"/>
              </a:defRPr>
            </a:lvl1pPr>
            <a:lvl2pPr marL="742950" indent="4572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800" b="0" i="0">
                <a:solidFill>
                  <a:schemeClr val="dk1"/>
                </a:solidFill>
                <a:latin typeface="Calibri"/>
              </a:defRPr>
            </a:lvl2pPr>
            <a:lvl3pPr marL="1143000" indent="9144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•"/>
              <a:defRPr sz="2400" b="0" i="0">
                <a:solidFill>
                  <a:schemeClr val="dk1"/>
                </a:solidFill>
                <a:latin typeface="Calibri"/>
              </a:defRPr>
            </a:lvl3pPr>
            <a:lvl4pPr marL="1600200" indent="13716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–"/>
              <a:defRPr sz="2000" b="0" i="0">
                <a:solidFill>
                  <a:schemeClr val="dk1"/>
                </a:solidFill>
                <a:latin typeface="Calibri"/>
              </a:defRPr>
            </a:lvl4pPr>
            <a:lvl5pPr marL="2057400" indent="1828800" algn="l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»"/>
              <a:defRPr sz="2000" b="0" i="0">
                <a:solidFill>
                  <a:schemeClr val="dk1"/>
                </a:solidFill>
                <a:latin typeface="Calibri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pt-BR" sz="18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pMOS-StegaFace Performance</a:t>
            </a:r>
            <a:endParaRPr/>
          </a:p>
        </p:txBody>
      </p:sp>
      <p:pic>
        <p:nvPicPr>
          <p:cNvPr id="394121517" name="Imagem 5"/>
          <p:cNvPicPr>
            <a:picLocks noChangeAspect="1" noGrp="1"/>
          </p:cNvPicPr>
          <p:nvPr/>
        </p:nvPicPr>
        <p:blipFill>
          <a:blip r:embed="rId3"/>
          <a:stretch/>
        </p:blipFill>
        <p:spPr bwMode="auto">
          <a:xfrm>
            <a:off x="6300785" y="333373"/>
            <a:ext cx="2336798" cy="419098"/>
          </a:xfrm>
          <a:prstGeom prst="rect">
            <a:avLst/>
          </a:prstGeom>
          <a:noFill/>
        </p:spPr>
      </p:pic>
      <p:sp>
        <p:nvSpPr>
          <p:cNvPr id="1425269409" name=""/>
          <p:cNvSpPr txBox="1"/>
          <p:nvPr/>
        </p:nvSpPr>
        <p:spPr bwMode="auto">
          <a:xfrm rot="0" flipH="0" flipV="0">
            <a:off x="563725" y="2063746"/>
            <a:ext cx="792569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Our model is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more effective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in predicting perceptual quality than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classical NR-IQA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metrics such as NIQE, PIQE, and BRISQUE as well as </a:t>
            </a:r>
            <a:r>
              <a:rPr lang="pt-BR" sz="1200" b="1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task-specific approaches</a:t>
            </a:r>
            <a:r>
              <a:rPr lang="pt-BR" sz="1200" b="0" i="0" u="none" strike="noStrike" cap="none" spc="0">
                <a:solidFill>
                  <a:srgbClr val="6E593E"/>
                </a:solidFill>
                <a:latin typeface="Verdana"/>
                <a:ea typeface="Verdana"/>
                <a:cs typeface="Verdana"/>
              </a:rPr>
              <a:t> like FaceQnet, SER-FIQ and MagFace.</a:t>
            </a:r>
            <a:endParaRPr lang="pt-BR" sz="1200" b="0" i="0" u="none" strike="noStrike" cap="none" spc="0">
              <a:solidFill>
                <a:srgbClr val="6E593E"/>
              </a:solidFill>
              <a:latin typeface="Verdana"/>
              <a:cs typeface="Verdana"/>
            </a:endParaRPr>
          </a:p>
        </p:txBody>
      </p:sp>
      <p:graphicFrame>
        <p:nvGraphicFramePr>
          <p:cNvPr id="1977028586" name=""/>
          <p:cNvGraphicFramePr>
            <a:graphicFrameLocks xmlns:a="http://schemas.openxmlformats.org/drawingml/2006/main"/>
          </p:cNvGraphicFramePr>
          <p:nvPr/>
        </p:nvGraphicFramePr>
        <p:xfrm>
          <a:off x="563725" y="3132666"/>
          <a:ext cx="4368105" cy="221981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440000"/>
                <a:gridCol w="810000"/>
                <a:gridCol w="810000"/>
                <a:gridCol w="810000"/>
                <a:gridCol w="793543"/>
              </a:tblGrid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Metric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PLCC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SRCC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MSE</a:t>
                      </a:r>
                      <a:endParaRPr sz="1000" b="1"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>
                          <a:latin typeface="Verdana"/>
                          <a:ea typeface="Verdana"/>
                          <a:cs typeface="Verdana"/>
                        </a:rPr>
                        <a:t>MAE</a:t>
                      </a:r>
                      <a:endParaRPr sz="1000"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6E593E"/>
                    </a:solidFill>
                  </a:tcPr>
                </a:tc>
              </a:tr>
              <a:tr h="286879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1">
                          <a:solidFill>
                            <a:srgbClr val="6E593E"/>
                          </a:solidFill>
                          <a:latin typeface="Verdana"/>
                          <a:cs typeface="Verdana"/>
                        </a:rPr>
                        <a:t>pMOS-StegaFace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0.8747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0.8768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0.0118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1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0.0847</a:t>
                      </a:r>
                      <a:endParaRPr sz="1000" b="1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306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NIQE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0.7536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0.7431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6859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82.62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PIQE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0.2993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0.3114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3297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57.05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67242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BRISQUE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0.1234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0.5678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9101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23.45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FaceQnet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0.4567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0.4789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5123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34.12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SER-FIQ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-0.1648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-0.1542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123.5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9.230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FAF2C8"/>
                    </a:solidFill>
                  </a:tcPr>
                </a:tc>
              </a:tr>
              <a:tr h="272758"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MagFace</a:t>
                      </a:r>
                      <a:endParaRPr sz="100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-0.6095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-0.6362</a:t>
                      </a:r>
                      <a:endParaRPr sz="1000" b="0" i="0" u="none" strike="noStrike" cap="none" spc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4437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pt-BR" sz="1000" b="0" i="0" u="none" strike="noStrike" cap="none" spc="0">
                          <a:solidFill>
                            <a:srgbClr val="6E593E"/>
                          </a:solidFill>
                          <a:latin typeface="Verdana"/>
                          <a:ea typeface="Verdana"/>
                          <a:cs typeface="Verdana"/>
                        </a:rPr>
                        <a:t>66.24</a:t>
                      </a:r>
                      <a:endParaRPr sz="1000" b="0">
                        <a:solidFill>
                          <a:srgbClr val="6E593E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solidFill>
                      <a:srgbClr val="E5CDA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Defaul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000FF"/>
      </a:hlink>
      <a:folHlink>
        <a:srgbClr val="800080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0563C1"/>
      </a:hlink>
      <a:folHlink>
        <a:srgbClr val="954F72"/>
      </a:folHlink>
    </a:clrScheme>
    <a:fontScheme name="default">
      <a:majorFont>
        <a:latin typeface="Arial"/>
        <a:ea typeface="Arial"/>
        <a:cs typeface="Arial"/>
      </a:majorFont>
      <a:minorFont>
        <a:latin typeface="ＭＳ Ｐゴシック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Universidade  de Coimbra</dc:creator>
  <cp:lastModifiedBy/>
  <cp:revision>29</cp:revision>
  <dcterms:created xsi:type="dcterms:W3CDTF">2009-05-19T14:21:00Z</dcterms:created>
  <dcterms:modified xsi:type="dcterms:W3CDTF">2025-09-22T22:13:54Z</dcterms:modified>
</cp:coreProperties>
</file>