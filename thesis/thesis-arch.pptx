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lvl1pPr marL="0" indent="0" algn="l" defTabSz="457200" rtl="0">
      <a:lnSpc>
        <a:spcPct val="100000"/>
      </a:lnSpc>
      <a:spcBef>
        <a:spcPts val="0"/>
      </a:spcBef>
      <a:spcAft>
        <a:spcPts val="0"/>
      </a:spcAft>
      <a:buNone/>
      <a:defRPr lang="en-US" sz="2400" b="0" i="0">
        <a:solidFill>
          <a:schemeClr val="dk1"/>
        </a:solidFill>
        <a:latin typeface="Arial"/>
        <a:ea typeface="ＭＳ Ｐゴシック"/>
      </a:defRPr>
    </a:lvl1pPr>
    <a:lvl2pPr marL="457200" indent="457200" algn="l" defTabSz="457200" rtl="0">
      <a:lnSpc>
        <a:spcPct val="100000"/>
      </a:lnSpc>
      <a:spcBef>
        <a:spcPts val="0"/>
      </a:spcBef>
      <a:spcAft>
        <a:spcPts val="0"/>
      </a:spcAft>
      <a:buNone/>
      <a:defRPr lang="en-US" sz="2400" b="0" i="0">
        <a:solidFill>
          <a:schemeClr val="dk1"/>
        </a:solidFill>
        <a:latin typeface="Arial"/>
        <a:ea typeface="ＭＳ Ｐゴシック"/>
      </a:defRPr>
    </a:lvl2pPr>
    <a:lvl3pPr marL="914400" indent="914400" algn="l" defTabSz="457200" rtl="0">
      <a:lnSpc>
        <a:spcPct val="100000"/>
      </a:lnSpc>
      <a:spcBef>
        <a:spcPts val="0"/>
      </a:spcBef>
      <a:spcAft>
        <a:spcPts val="0"/>
      </a:spcAft>
      <a:buNone/>
      <a:defRPr lang="en-US" sz="2400" b="0" i="0">
        <a:solidFill>
          <a:schemeClr val="dk1"/>
        </a:solidFill>
        <a:latin typeface="Arial"/>
        <a:ea typeface="ＭＳ Ｐゴシック"/>
      </a:defRPr>
    </a:lvl3pPr>
    <a:lvl4pPr marL="1371600" indent="1371600" algn="l" defTabSz="457200" rtl="0">
      <a:lnSpc>
        <a:spcPct val="100000"/>
      </a:lnSpc>
      <a:spcBef>
        <a:spcPts val="0"/>
      </a:spcBef>
      <a:spcAft>
        <a:spcPts val="0"/>
      </a:spcAft>
      <a:buNone/>
      <a:defRPr lang="en-US" sz="2400" b="0" i="0">
        <a:solidFill>
          <a:schemeClr val="dk1"/>
        </a:solidFill>
        <a:latin typeface="Arial"/>
        <a:ea typeface="ＭＳ Ｐゴシック"/>
      </a:defRPr>
    </a:lvl4pPr>
    <a:lvl5pPr marL="1828800" indent="1828800" algn="l" defTabSz="457200" rtl="0">
      <a:lnSpc>
        <a:spcPct val="100000"/>
      </a:lnSpc>
      <a:spcBef>
        <a:spcPts val="0"/>
      </a:spcBef>
      <a:spcAft>
        <a:spcPts val="0"/>
      </a:spcAft>
      <a:buNone/>
      <a:defRPr lang="en-US" sz="2400" b="0" i="0">
        <a:solidFill>
          <a:schemeClr val="dk1"/>
        </a:solidFill>
        <a:latin typeface="Arial"/>
        <a:ea typeface="ＭＳ Ｐゴシック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765046" name="Espaço Reservado para Cabeçalho 1"/>
          <p:cNvSpPr>
            <a:spLocks noChangeShapeType="1" noGrp="1"/>
          </p:cNvSpPr>
          <p:nvPr>
            <p:ph type="hdr" idx="0"/>
          </p:nvPr>
        </p:nvSpPr>
        <p:spPr bwMode="auto">
          <a:xfrm>
            <a:off x="0" y="0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147452595" name="Espaço Reservado para Data 2"/>
          <p:cNvSpPr>
            <a:spLocks noChangeShapeType="1" noGrp="1"/>
          </p:cNvSpPr>
          <p:nvPr>
            <p:ph type="dt" idx="1"/>
          </p:nvPr>
        </p:nvSpPr>
        <p:spPr bwMode="auto">
          <a:xfrm>
            <a:off x="3884612" y="0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r>
              <a:rPr lang="pt-PT" sz="1200"/>
              <a:t>*</a:t>
            </a:r>
            <a:endParaRPr/>
          </a:p>
        </p:txBody>
      </p:sp>
      <p:sp>
        <p:nvSpPr>
          <p:cNvPr id="1899821111" name="Espaço Reservado para Imagem de Slide 3"/>
          <p:cNvSpPr>
            <a:spLocks noChangeShapeType="1" noGrp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118177586" name="Espaço Reservado para Anotações 4"/>
          <p:cNvSpPr>
            <a:spLocks noChangeShapeType="1" noGrp="1"/>
          </p:cNvSpPr>
          <p:nvPr>
            <p:ph type="body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/>
              <a:t>Editar estilos de texto Mestre</a:t>
            </a:r>
            <a:br>
              <a:rPr lang="pt-BR"/>
            </a:br>
            <a:r>
              <a:rPr lang="pt-BR"/>
              <a:t>Segundo nível</a:t>
            </a:r>
            <a:br>
              <a:rPr lang="pt-BR"/>
            </a:br>
            <a:r>
              <a:rPr lang="pt-BR"/>
              <a:t>Terceiro nível</a:t>
            </a:r>
            <a:br>
              <a:rPr lang="pt-BR"/>
            </a:br>
            <a:r>
              <a:rPr lang="pt-BR"/>
              <a:t>Quarto nível</a:t>
            </a:r>
            <a:br>
              <a:rPr lang="pt-BR"/>
            </a:br>
            <a:r>
              <a:rPr lang="pt-BR"/>
              <a:t>Quinto nível</a:t>
            </a:r>
            <a:endParaRPr/>
          </a:p>
        </p:txBody>
      </p:sp>
      <p:sp>
        <p:nvSpPr>
          <p:cNvPr id="1259833671" name="Espaço Reservado para Rodapé 5"/>
          <p:cNvSpPr>
            <a:spLocks noChangeShapeType="1" noGrp="1"/>
          </p:cNvSpPr>
          <p:nvPr>
            <p:ph type="ftr" idx="4"/>
          </p:nvPr>
        </p:nvSpPr>
        <p:spPr bwMode="auto">
          <a:xfrm>
            <a:off x="0" y="8685212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489599418" name="Espaço Reservado para Número de Slide 6"/>
          <p:cNvSpPr>
            <a:spLocks noChangeShapeType="1" noGrp="1"/>
          </p:cNvSpPr>
          <p:nvPr>
            <p:ph type="sldNum" idx="5"/>
          </p:nvPr>
        </p:nvSpPr>
        <p:spPr bwMode="auto">
          <a:xfrm>
            <a:off x="3884612" y="8685212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pt-PT" sz="12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43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6399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187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23F2A-3BEA-A702-AC84-2674DA4999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166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4045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427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B296F8-F15F-5B19-C81C-A8D96D60BF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489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3094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 qualidade de imagem é o que define o quão bem, ou mal, uma imagem, adquirida, serve para a interpretação do ser humano, ou </a:t>
            </a: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interpretação pelo computador.</a:t>
            </a:r>
            <a:endParaRPr sz="1200"/>
          </a:p>
          <a:p>
            <a:pPr>
              <a:defRPr/>
            </a:pPr>
            <a:endParaRPr sz="1200"/>
          </a:p>
          <a:p>
            <a:pPr>
              <a:defRPr/>
            </a:pP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 avaliação da qualidade de imagem é, tal como o nome indica, como devemos pontuar a qualidade de imagem para atingir este objetivo.</a:t>
            </a:r>
            <a:endParaRPr sz="1200"/>
          </a:p>
          <a:p>
            <a:pPr>
              <a:defRPr/>
            </a:pPr>
            <a:endParaRPr sz="1200"/>
          </a:p>
          <a:p>
            <a:pPr>
              <a:defRPr/>
            </a:pP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Existem dois tipos de categorias de IQA:</a:t>
            </a:r>
            <a:endParaRPr lang="pt-BR" sz="12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 IQA subjetivo, onde um agregado de pessoas avaliam a qualidade de uma imagem com base na sua opinião pessoal. Isto produz um score de opinião média, denominado por MOS.</a:t>
            </a:r>
            <a:r>
              <a:rPr lang="pt-BR"/>
              <a:t> Esta categoria é o ápice da qualidade da avaliações de imagens para a maior parte de sistemas reais, porém exige um custo elevadíssimo no que conta à contratação de pessoas para darem a sua opinião e, eventualmente, treinarem uma métrica objetiva.</a:t>
            </a:r>
            <a:endParaRPr lang="pt-BR" sz="12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 IQA objetivo, onde computadores fazem esta mesma avaliação de maneira automática, usando diferentes tipos de modelos matemáticos e, por isso, gerando vários tipos diferentes de métricas, cada uma com a sua utilidade.</a:t>
            </a:r>
            <a:endParaRPr sz="1200"/>
          </a:p>
          <a:p>
            <a:pPr>
              <a:defRPr/>
            </a:pPr>
            <a:endParaRPr/>
          </a:p>
        </p:txBody>
      </p:sp>
      <p:sp>
        <p:nvSpPr>
          <p:cNvPr id="1473918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5C817-989A-16C8-BEE4-0637A472BA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9978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4002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Existem dois tipos de IQA objetivo:</a:t>
            </a:r>
            <a:endParaRPr lang="pt-BR"/>
          </a:p>
          <a:p>
            <a:pPr>
              <a:defRPr/>
            </a:pP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lang="pt-BR"/>
              <a:t>Full-Reference IQA, que requer a presença da imagem de referência, não distorcida, para dar uma pontuação representativa da qualidade de uma imagem. Este tipo de IQA está, por norma, extremamente alinhado com a opinião humana, porém, não é prático na maioria dos cenários reais, onde na maior parte das vezes, não existe uma versão original de uma imagem que se quer avaliar em termos de qualidade.</a:t>
            </a:r>
            <a:endParaRPr lang="pt-BR"/>
          </a:p>
          <a:p>
            <a:pPr marL="217793" indent="-217793">
              <a:buFont typeface="Arial"/>
              <a:buChar char="–"/>
              <a:defRPr/>
            </a:pPr>
            <a:r>
              <a:rPr lang="pt-BR"/>
              <a:t>No-Reference IQA, que, </a:t>
            </a:r>
            <a:r>
              <a:rPr lang="pt-BR"/>
              <a:t>por sua vez, não requer uma imagem de referência para avaliar uma imagem, podendo assim </a:t>
            </a:r>
            <a:endParaRPr lang="pt-BR"/>
          </a:p>
          <a:p>
            <a:pPr>
              <a:defRPr/>
            </a:pPr>
            <a:endParaRPr/>
          </a:p>
        </p:txBody>
      </p:sp>
      <p:sp>
        <p:nvSpPr>
          <p:cNvPr id="6052951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66C82-23B6-6961-6D8A-D8B68B454F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838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5484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320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33E45A-FF1A-E4E1-D4B1-8BA1EA7CC3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36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9119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78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73C7E5-69ED-4B66-5032-138A18CE48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812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168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508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D36834-491C-1F25-E9F3-90EF1B0ABE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51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6712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90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3856BD-6700-078C-4327-922D510741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933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8344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410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5FAA00-59DA-83C7-EFCD-D38CE8E4F6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107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138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8281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E29CF-79C2-EC9C-41EF-3F8A3AB58D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308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373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616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7A46DB-9606-4651-4656-F9A46234C7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937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083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373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E8E9BC-ACAF-D833-3DEF-D5BDDF866D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43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2442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1101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6BA1DE-7D9E-A8B7-12CA-AC4890F0D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133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94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89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12B6BF-0839-7413-2D30-0E4E389AE3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091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1046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125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979994-1FCC-17CE-3A01-3AF27BABEE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081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6831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42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7F946D-E5A5-30F6-0595-A6E160CDFD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53518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pt-PT"/>
              <a:t>Click to edit Master title style</a:t>
            </a:r>
            <a:endParaRPr/>
          </a:p>
        </p:txBody>
      </p:sp>
      <p:sp>
        <p:nvSpPr>
          <p:cNvPr id="513832163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342900" lvl="0" indent="-342900">
              <a:spcBef>
                <a:spcPts val="0"/>
              </a:spcBef>
              <a:buFont typeface="Arial"/>
              <a:buChar char="•"/>
              <a:defRPr/>
            </a:pPr>
            <a:r>
              <a:rPr lang="pt-PT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pt-PT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pt-PT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pt-PT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pt-PT"/>
              <a:t>Fifth level</a:t>
            </a:r>
            <a:endParaRPr/>
          </a:p>
        </p:txBody>
      </p:sp>
      <p:sp>
        <p:nvSpPr>
          <p:cNvPr id="1155487049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endParaRPr lang="en-US" sz="1200"/>
          </a:p>
        </p:txBody>
      </p:sp>
      <p:sp>
        <p:nvSpPr>
          <p:cNvPr id="2034405868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541053368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  <a:latin typeface="Calibri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371649" name="Title Placeholder 1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pt-PT"/>
              <a:t>Click to edit Master title style</a:t>
            </a:r>
            <a:endParaRPr/>
          </a:p>
        </p:txBody>
      </p:sp>
      <p:sp>
        <p:nvSpPr>
          <p:cNvPr id="300073246" name="Text Placeholder 2"/>
          <p:cNvSpPr>
            <a:spLocks noChangeShapeType="1" noGrp="1"/>
          </p:cNvSpPr>
          <p:nvPr>
            <p:ph type="body"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342900" lvl="0" indent="-342900">
              <a:spcBef>
                <a:spcPts val="0"/>
              </a:spcBef>
              <a:buFont typeface="Arial"/>
              <a:buChar char="•"/>
              <a:defRPr/>
            </a:pPr>
            <a:r>
              <a:rPr lang="pt-PT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pt-PT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pt-PT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pt-PT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pt-PT"/>
              <a:t>Fifth level</a:t>
            </a:r>
            <a:endParaRPr/>
          </a:p>
        </p:txBody>
      </p:sp>
      <p:sp>
        <p:nvSpPr>
          <p:cNvPr id="733252382" name="Date Placeholder 3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1200">
                <a:solidFill>
                  <a:srgbClr val="898989"/>
                </a:solidFill>
                <a:latin typeface="Calibri"/>
              </a:rPr>
              <a:t>*</a:t>
            </a:r>
            <a:endParaRPr/>
          </a:p>
        </p:txBody>
      </p:sp>
      <p:sp>
        <p:nvSpPr>
          <p:cNvPr id="1134959827" name="Footer Placeholder 4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081596198" name="Slide Number Placeholder 5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  <a:latin typeface="Calibri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ctr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1pPr>
      <a:lvl2pPr marL="0" indent="0" algn="ctr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2pPr>
      <a:lvl3pPr marL="0" indent="0" algn="ctr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3pPr>
      <a:lvl4pPr marL="0" indent="0" algn="ctr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4pPr>
      <a:lvl5pPr marL="0" indent="0" algn="ctr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457200" rtl="0">
        <a:lnSpc>
          <a:spcPct val="100000"/>
        </a:lnSpc>
        <a:spcBef>
          <a:spcPts val="0"/>
        </a:spcBef>
        <a:spcAft>
          <a:spcPts val="0"/>
        </a:spcAft>
        <a:buFont typeface="Arial"/>
        <a:buChar char="•"/>
        <a:defRPr lang="en-US" sz="3200" b="0" i="0">
          <a:solidFill>
            <a:schemeClr val="dk1"/>
          </a:solidFill>
          <a:latin typeface="Calibri"/>
          <a:ea typeface="ＭＳ Ｐゴシック"/>
        </a:defRPr>
      </a:lvl1pPr>
      <a:lvl2pPr marL="742950" indent="457200" algn="l" defTabSz="457200" rtl="0">
        <a:lnSpc>
          <a:spcPct val="100000"/>
        </a:lnSpc>
        <a:spcBef>
          <a:spcPts val="0"/>
        </a:spcBef>
        <a:spcAft>
          <a:spcPts val="0"/>
        </a:spcAft>
        <a:buChar char="–"/>
        <a:defRPr lang="en-US" sz="2800" b="0" i="0">
          <a:solidFill>
            <a:schemeClr val="dk1"/>
          </a:solidFill>
          <a:latin typeface="Calibri"/>
        </a:defRPr>
      </a:lvl2pPr>
      <a:lvl3pPr marL="1143000" indent="914400" algn="l" defTabSz="457200" rtl="0">
        <a:lnSpc>
          <a:spcPct val="100000"/>
        </a:lnSpc>
        <a:spcBef>
          <a:spcPts val="0"/>
        </a:spcBef>
        <a:spcAft>
          <a:spcPts val="0"/>
        </a:spcAft>
        <a:buChar char="•"/>
        <a:defRPr lang="en-US" sz="2400" b="0" i="0">
          <a:solidFill>
            <a:schemeClr val="dk1"/>
          </a:solidFill>
          <a:latin typeface="Calibri"/>
        </a:defRPr>
      </a:lvl3pPr>
      <a:lvl4pPr marL="1600200" indent="1371600" algn="l" defTabSz="457200" rtl="0">
        <a:lnSpc>
          <a:spcPct val="100000"/>
        </a:lnSpc>
        <a:spcBef>
          <a:spcPts val="0"/>
        </a:spcBef>
        <a:spcAft>
          <a:spcPts val="0"/>
        </a:spcAft>
        <a:buChar char="–"/>
        <a:defRPr lang="en-US" sz="2000" b="0" i="0">
          <a:solidFill>
            <a:schemeClr val="dk1"/>
          </a:solidFill>
          <a:latin typeface="Calibri"/>
        </a:defRPr>
      </a:lvl4pPr>
      <a:lvl5pPr marL="2057400" indent="1828800" algn="l" defTabSz="457200" rtl="0">
        <a:lnSpc>
          <a:spcPct val="100000"/>
        </a:lnSpc>
        <a:spcBef>
          <a:spcPts val="0"/>
        </a:spcBef>
        <a:spcAft>
          <a:spcPts val="0"/>
        </a:spcAft>
        <a:buChar char="»"/>
        <a:defRPr lang="en-US" sz="2000" b="0" i="0">
          <a:solidFill>
            <a:schemeClr val="dk1"/>
          </a:solidFill>
          <a:latin typeface="Calibri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2400" b="0" i="0">
          <a:solidFill>
            <a:schemeClr val="dk1"/>
          </a:solidFill>
          <a:latin typeface="Arial"/>
          <a:ea typeface="ＭＳ Ｐゴシック"/>
        </a:defRPr>
      </a:lvl1pPr>
      <a:lvl2pPr marL="457200" indent="457200" algn="l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2400" b="0" i="0">
          <a:solidFill>
            <a:schemeClr val="dk1"/>
          </a:solidFill>
          <a:latin typeface="Arial"/>
          <a:ea typeface="ＭＳ Ｐゴシック"/>
        </a:defRPr>
      </a:lvl2pPr>
      <a:lvl3pPr marL="914400" indent="914400" algn="l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2400" b="0" i="0">
          <a:solidFill>
            <a:schemeClr val="dk1"/>
          </a:solidFill>
          <a:latin typeface="Arial"/>
          <a:ea typeface="ＭＳ Ｐゴシック"/>
        </a:defRPr>
      </a:lvl3pPr>
      <a:lvl4pPr marL="1371600" indent="1371600" algn="l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2400" b="0" i="0">
          <a:solidFill>
            <a:schemeClr val="dk1"/>
          </a:solidFill>
          <a:latin typeface="Arial"/>
          <a:ea typeface="ＭＳ Ｐゴシック"/>
        </a:defRPr>
      </a:lvl4pPr>
      <a:lvl5pPr marL="1828800" indent="1828800" algn="l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2400" b="0" i="0">
          <a:solidFill>
            <a:schemeClr val="dk1"/>
          </a:solidFill>
          <a:latin typeface="Arial"/>
          <a:ea typeface="ＭＳ Ｐゴシック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jpg"/><Relationship Id="rId8" Type="http://schemas.openxmlformats.org/officeDocument/2006/relationships/image" Target="../media/image1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CDA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686981" name="Imagem 3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3314700" y="2374900"/>
            <a:ext cx="2514600" cy="2108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CDA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241288" name="Text Box 3"/>
          <p:cNvSpPr txBox="1">
            <a:spLocks noChangeShapeType="1" noGrp="1"/>
          </p:cNvSpPr>
          <p:nvPr/>
        </p:nvSpPr>
        <p:spPr bwMode="auto">
          <a:xfrm>
            <a:off x="576262" y="920750"/>
            <a:ext cx="7991475" cy="3429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André Guilherme dos Santos Neto</a:t>
            </a:r>
            <a:endParaRPr/>
          </a:p>
        </p:txBody>
      </p:sp>
      <p:sp>
        <p:nvSpPr>
          <p:cNvPr id="696502729" name="Text Box 4"/>
          <p:cNvSpPr txBox="1">
            <a:spLocks noChangeShapeType="1" noGrp="1"/>
          </p:cNvSpPr>
          <p:nvPr/>
        </p:nvSpPr>
        <p:spPr bwMode="auto">
          <a:xfrm>
            <a:off x="468312" y="1909762"/>
            <a:ext cx="7991475" cy="1360487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2800">
                <a:solidFill>
                  <a:srgbClr val="6E593E"/>
                </a:solidFill>
                <a:latin typeface="Arrus BT Roman"/>
                <a:ea typeface="Arrus BT Roman"/>
              </a:rPr>
              <a:t>Metrics of Automatic Image Quality Assessment based on Human Perception</a:t>
            </a:r>
            <a:endParaRPr/>
          </a:p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2400">
                <a:solidFill>
                  <a:srgbClr val="6E593E"/>
                </a:solidFill>
                <a:latin typeface="Arrus BT Roman"/>
                <a:ea typeface="Arrus BT Roman"/>
              </a:rPr>
              <a:t>A Comparative Study and a Proprosal of a New Metric</a:t>
            </a:r>
            <a:endParaRPr/>
          </a:p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  <a:p>
            <a:pPr marL="0" lvl="0" indent="0" algn="ctr">
              <a:spcBef>
                <a:spcPts val="0"/>
              </a:spcBef>
              <a:buNone/>
              <a:defRPr/>
            </a:pPr>
            <a:endParaRPr/>
          </a:p>
        </p:txBody>
      </p:sp>
      <p:sp>
        <p:nvSpPr>
          <p:cNvPr id="641723898" name="Text Box 6"/>
          <p:cNvSpPr txBox="1">
            <a:spLocks noChangeShapeType="1" noGrp="1"/>
          </p:cNvSpPr>
          <p:nvPr/>
        </p:nvSpPr>
        <p:spPr bwMode="auto">
          <a:xfrm>
            <a:off x="2468562" y="5791200"/>
            <a:ext cx="4343400" cy="685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>
                <a:solidFill>
                  <a:srgbClr val="6E593E"/>
                </a:solidFill>
                <a:latin typeface="Arrus BT Roman"/>
                <a:ea typeface="Arrus BT Roman"/>
              </a:rPr>
              <a:t>Setembro de 2025</a:t>
            </a:r>
            <a:endParaRPr/>
          </a:p>
        </p:txBody>
      </p:sp>
      <p:sp>
        <p:nvSpPr>
          <p:cNvPr id="1433963374" name="Text Box 5"/>
          <p:cNvSpPr txBox="1">
            <a:spLocks noChangeShapeType="1" noGrp="1"/>
          </p:cNvSpPr>
          <p:nvPr/>
        </p:nvSpPr>
        <p:spPr bwMode="auto">
          <a:xfrm>
            <a:off x="949325" y="3916362"/>
            <a:ext cx="7245350" cy="123031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Dissertação no âmbito do 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Mestrado em Engenharia Eletrotécnica e de Computadores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 </a:t>
            </a: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orientada pelo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 </a:t>
            </a: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Professo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r</a:t>
            </a: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 Doutor 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Nuno Miguel Mendonça da Silva Gonçalves</a:t>
            </a: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 e apresentada 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ao Departamento de Engenharia Eletrotécnica e de Computadores da Faculdade de Ciências e Tecnologia da Universidade de Coimbra</a:t>
            </a: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145797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332219084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407377275" name="TextBox 3"/>
          <p:cNvSpPr txBox="1">
            <a:spLocks noChangeShapeType="1" noGrp="1"/>
          </p:cNvSpPr>
          <p:nvPr/>
        </p:nvSpPr>
        <p:spPr bwMode="auto">
          <a:xfrm flipH="0" flipV="0">
            <a:off x="563727" y="1385886"/>
            <a:ext cx="8076019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Image Quality Assessment</a:t>
            </a:r>
            <a:endParaRPr/>
          </a:p>
        </p:txBody>
      </p:sp>
      <p:pic>
        <p:nvPicPr>
          <p:cNvPr id="1744507877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1643437979" name="TextBox 3"/>
          <p:cNvSpPr txBox="1">
            <a:spLocks noChangeShapeType="1" noGrp="1"/>
          </p:cNvSpPr>
          <p:nvPr/>
        </p:nvSpPr>
        <p:spPr bwMode="auto">
          <a:xfrm flipH="0" flipV="0">
            <a:off x="2136129" y="6088487"/>
            <a:ext cx="2299929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Subjective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209784341" name="TextBox 3"/>
          <p:cNvSpPr txBox="1">
            <a:spLocks noChangeShapeType="1" noGrp="1"/>
          </p:cNvSpPr>
          <p:nvPr/>
        </p:nvSpPr>
        <p:spPr bwMode="auto">
          <a:xfrm flipH="0" flipV="0">
            <a:off x="4612428" y="6088487"/>
            <a:ext cx="2306050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Objective</a:t>
            </a:r>
            <a:endParaRPr lang="pt-BR" sz="1200" b="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389445006" name="TextBox 3"/>
          <p:cNvSpPr txBox="1">
            <a:spLocks noChangeShapeType="1" noGrp="1"/>
          </p:cNvSpPr>
          <p:nvPr/>
        </p:nvSpPr>
        <p:spPr bwMode="auto">
          <a:xfrm flipH="0" flipV="0">
            <a:off x="563727" y="2063748"/>
            <a:ext cx="8075299" cy="17377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Image Quality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is how well an image preserves visual fidelity and usability for human or machine perception.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Image Quality Assessment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(IQA) is the systematic evaluation of this quality.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sz="1200"/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There are two categories of IQA: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Subjective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: relies on human observers to evaluate the quality of a given image, outputing a score known as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Mean Opinion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Score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(MOS).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Objective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: computational models, called metrics, can automatically estimate image quality.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  <p:pic>
        <p:nvPicPr>
          <p:cNvPr id="17976323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324718" y="4129462"/>
            <a:ext cx="1922751" cy="1884473"/>
          </a:xfrm>
          <a:prstGeom prst="rect">
            <a:avLst/>
          </a:prstGeom>
        </p:spPr>
      </p:pic>
      <p:sp>
        <p:nvSpPr>
          <p:cNvPr id="1239013787" name="TextBox 3"/>
          <p:cNvSpPr txBox="1">
            <a:spLocks noChangeShapeType="1" noGrp="1"/>
          </p:cNvSpPr>
          <p:nvPr/>
        </p:nvSpPr>
        <p:spPr bwMode="auto">
          <a:xfrm flipH="0" flipV="0">
            <a:off x="4572000" y="5739256"/>
            <a:ext cx="2489625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score = 75%</a:t>
            </a:r>
            <a:endParaRPr lang="pt-BR" sz="1200" b="0">
              <a:solidFill>
                <a:srgbClr val="6E593E"/>
              </a:solidFill>
              <a:latin typeface="Verdana"/>
            </a:endParaRPr>
          </a:p>
        </p:txBody>
      </p:sp>
      <p:pic>
        <p:nvPicPr>
          <p:cNvPr id="10268132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666410" y="4129462"/>
            <a:ext cx="2300803" cy="1577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15603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4424" y="3931525"/>
            <a:ext cx="2042378" cy="2042378"/>
          </a:xfrm>
          <a:prstGeom prst="rect">
            <a:avLst/>
          </a:prstGeom>
        </p:spPr>
      </p:pic>
      <p:sp>
        <p:nvSpPr>
          <p:cNvPr id="1614868968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5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612495025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10904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Objective Image Quality Assessment</a:t>
            </a:r>
            <a:endParaRPr/>
          </a:p>
        </p:txBody>
      </p:sp>
      <p:pic>
        <p:nvPicPr>
          <p:cNvPr id="646308880" name="Imagem 5"/>
          <p:cNvPicPr>
            <a:picLocks noChangeAspect="1" noGrp="1"/>
          </p:cNvPicPr>
          <p:nvPr/>
        </p:nvPicPr>
        <p:blipFill>
          <a:blip r:embed="rId4"/>
          <a:stretch/>
        </p:blipFill>
        <p:spPr bwMode="auto">
          <a:xfrm>
            <a:off x="6300787" y="333375"/>
            <a:ext cx="2336800" cy="419100"/>
          </a:xfrm>
          <a:prstGeom prst="rect">
            <a:avLst/>
          </a:prstGeom>
          <a:noFill/>
        </p:spPr>
      </p:pic>
      <p:sp>
        <p:nvSpPr>
          <p:cNvPr id="1783095345" name="TextBox 3"/>
          <p:cNvSpPr txBox="1">
            <a:spLocks noChangeShapeType="1" noGrp="1"/>
          </p:cNvSpPr>
          <p:nvPr/>
        </p:nvSpPr>
        <p:spPr bwMode="auto">
          <a:xfrm flipH="0" flipV="0">
            <a:off x="563726" y="2063748"/>
            <a:ext cx="8012166" cy="137196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There are two main types of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Objective IQA 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metrics: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Full-Reference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(FR): requires the original image to output the quality of its distorted version. It gives reliable scores, but is impractical in most real life scenarios.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No-Reference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(NR):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outputs the quality of an image without comparing it to an original version. It is often missaligned with human subjective perception.</a:t>
            </a:r>
            <a:endParaRPr lang="pt-BR" sz="12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382592423" name="TextBox 3"/>
          <p:cNvSpPr txBox="1">
            <a:spLocks noChangeShapeType="1" noGrp="1"/>
          </p:cNvSpPr>
          <p:nvPr/>
        </p:nvSpPr>
        <p:spPr bwMode="auto">
          <a:xfrm flipH="0" flipV="0">
            <a:off x="884424" y="6031195"/>
            <a:ext cx="2046338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Reference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1582241249" name="TextBox 3"/>
          <p:cNvSpPr txBox="1">
            <a:spLocks noChangeShapeType="1" noGrp="1"/>
          </p:cNvSpPr>
          <p:nvPr/>
        </p:nvSpPr>
        <p:spPr bwMode="auto">
          <a:xfrm flipH="0" flipV="0">
            <a:off x="3358157" y="6031195"/>
            <a:ext cx="2045354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Distorted</a:t>
            </a:r>
            <a:endParaRPr lang="pt-BR" sz="1200">
              <a:solidFill>
                <a:srgbClr val="6E593E"/>
              </a:solidFill>
              <a:latin typeface="Verdana"/>
            </a:endParaRPr>
          </a:p>
        </p:txBody>
      </p:sp>
      <p:pic>
        <p:nvPicPr>
          <p:cNvPr id="22337689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58157" y="3929268"/>
            <a:ext cx="2044634" cy="2044634"/>
          </a:xfrm>
          <a:prstGeom prst="rect">
            <a:avLst/>
          </a:prstGeom>
        </p:spPr>
      </p:pic>
      <p:sp>
        <p:nvSpPr>
          <p:cNvPr id="1245611994" name="TextBox 3"/>
          <p:cNvSpPr txBox="1">
            <a:spLocks noChangeShapeType="1" noGrp="1"/>
          </p:cNvSpPr>
          <p:nvPr/>
        </p:nvSpPr>
        <p:spPr bwMode="auto">
          <a:xfrm flipH="0" flipV="0">
            <a:off x="5689021" y="4174165"/>
            <a:ext cx="2962829" cy="173772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Evaluations on the distorted image: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 b="1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Mean Opinion Score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 (MOS)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= 0.42</a:t>
            </a:r>
            <a:endParaRPr lang="pt-BR" sz="1200" b="1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 b="1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Full-Reference Image Quality Assessment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(FR-IQA)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metrics 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=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 0.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38</a:t>
            </a:r>
            <a:endParaRPr lang="pt-BR" sz="1200" b="1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 b="1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No-Reference Image Quality Assessment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(NR-IQA) metrics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= 0.79</a:t>
            </a:r>
            <a:endParaRPr lang="pt-BR" sz="1200" b="1">
              <a:solidFill>
                <a:srgbClr val="6E593E"/>
              </a:solidFill>
              <a:latin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416461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022794709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470566587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16304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Face Image Quality Assessment</a:t>
            </a:r>
            <a:endParaRPr/>
          </a:p>
        </p:txBody>
      </p:sp>
      <p:pic>
        <p:nvPicPr>
          <p:cNvPr id="1782248850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1174855583" name="TextBox 3"/>
          <p:cNvSpPr txBox="1">
            <a:spLocks noChangeShapeType="1" noGrp="1"/>
          </p:cNvSpPr>
          <p:nvPr/>
        </p:nvSpPr>
        <p:spPr bwMode="auto">
          <a:xfrm flipH="0" flipV="0">
            <a:off x="563726" y="2063748"/>
            <a:ext cx="8075299" cy="2652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High quality facial images are essential for accuracte recognition in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security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 forensics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and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surveillance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.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FIQA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must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account for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: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 Pose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head and shoulder positionning;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342900" lvl="0" indent="0">
              <a:spcBef>
                <a:spcPts val="0"/>
              </a:spcBef>
              <a:buFont typeface="Arial"/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 Occlusion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certain parts of the face being obstructed;</a:t>
            </a:r>
            <a:endParaRPr sz="1200" b="0">
              <a:solidFill>
                <a:srgbClr val="6E593E"/>
              </a:solidFill>
              <a:latin typeface="Verdana"/>
            </a:endParaRPr>
          </a:p>
          <a:p>
            <a:pPr marL="342900" lvl="0" indent="0">
              <a:spcBef>
                <a:spcPts val="0"/>
              </a:spcBef>
              <a:buFont typeface="Arial"/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 Facial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features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expression, emotions, etc;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342900" lvl="0" indent="0">
              <a:spcBef>
                <a:spcPts val="0"/>
              </a:spcBef>
              <a:buFont typeface="Arial"/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 Head wear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hat, cap, bandana, glasses, make up, masks, etc;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342900" lvl="0" indent="0">
              <a:spcBef>
                <a:spcPts val="0"/>
              </a:spcBef>
              <a:buFont typeface="Arial"/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 Demographic variability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age, ethnicity, gender, etc.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396873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357404060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037613480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1666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No-Reference Facial Image Quality Assessment Limitations</a:t>
            </a:r>
            <a:endParaRPr/>
          </a:p>
        </p:txBody>
      </p:sp>
      <p:pic>
        <p:nvPicPr>
          <p:cNvPr id="1887432936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pic>
        <p:nvPicPr>
          <p:cNvPr id="2030893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40977" y="2063748"/>
            <a:ext cx="2896609" cy="4100513"/>
          </a:xfrm>
          <a:prstGeom prst="rect">
            <a:avLst/>
          </a:prstGeom>
        </p:spPr>
      </p:pic>
      <p:sp>
        <p:nvSpPr>
          <p:cNvPr id="1408588482" name=""/>
          <p:cNvSpPr txBox="1"/>
          <p:nvPr/>
        </p:nvSpPr>
        <p:spPr bwMode="auto">
          <a:xfrm rot="0" flipH="0" flipV="0">
            <a:off x="563726" y="2063748"/>
            <a:ext cx="4491343" cy="28350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Human ratings are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biased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towards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ethnicity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gender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and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age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;</a:t>
            </a:r>
            <a:endParaRPr lang="pt-BR" sz="600">
              <a:solidFill>
                <a:srgbClr val="6E593E"/>
              </a:solidFill>
              <a:latin typeface="Verdana"/>
            </a:endParaRPr>
          </a:p>
          <a:p>
            <a:pPr marL="0" lvl="0" indent="0" algn="l">
              <a:spcBef>
                <a:spcPts val="0"/>
              </a:spcBef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By International Telecommunication Union - Radiocommunication Sector (ITU-R) Recommendations standards, each image needs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~30 evaluations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;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defRPr/>
            </a:pP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Gathering sufficient, reliable MOS is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time-consuming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and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costly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lvl="0" algn="l">
              <a:spcBef>
                <a:spcPts val="0"/>
              </a:spcBef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... What if we could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replicate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MOS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from a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small annotated unbiased subset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?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730513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642873035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134683513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32862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Face Research Lab London (FRLL) Set</a:t>
            </a:r>
            <a:endParaRPr/>
          </a:p>
        </p:txBody>
      </p:sp>
      <p:pic>
        <p:nvPicPr>
          <p:cNvPr id="1259247042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pic>
        <p:nvPicPr>
          <p:cNvPr id="21405321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3726" y="2063748"/>
            <a:ext cx="8073859" cy="3603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831347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44339208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712265031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51581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Printer-proof Steganographic Distortions</a:t>
            </a:r>
            <a:endParaRPr/>
          </a:p>
        </p:txBody>
      </p:sp>
      <p:pic>
        <p:nvPicPr>
          <p:cNvPr id="943037670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pic>
        <p:nvPicPr>
          <p:cNvPr id="99193637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172004" y="4381723"/>
            <a:ext cx="1498038" cy="1498038"/>
          </a:xfrm>
          <a:prstGeom prst="rect">
            <a:avLst/>
          </a:prstGeom>
        </p:spPr>
      </p:pic>
      <p:pic>
        <p:nvPicPr>
          <p:cNvPr id="19517981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64541" y="4379746"/>
            <a:ext cx="1499027" cy="1499027"/>
          </a:xfrm>
          <a:prstGeom prst="rect">
            <a:avLst/>
          </a:prstGeom>
        </p:spPr>
      </p:pic>
      <p:pic>
        <p:nvPicPr>
          <p:cNvPr id="64875445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7104769" y="4380735"/>
            <a:ext cx="1498038" cy="1498038"/>
          </a:xfrm>
          <a:prstGeom prst="rect">
            <a:avLst/>
          </a:prstGeom>
        </p:spPr>
      </p:pic>
      <p:pic>
        <p:nvPicPr>
          <p:cNvPr id="1581682592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3822259" y="4381723"/>
            <a:ext cx="1498038" cy="1498038"/>
          </a:xfrm>
          <a:prstGeom prst="rect">
            <a:avLst/>
          </a:prstGeom>
        </p:spPr>
      </p:pic>
      <p:pic>
        <p:nvPicPr>
          <p:cNvPr id="1537318081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 flipH="0" flipV="0">
            <a:off x="528949" y="4381723"/>
            <a:ext cx="1495849" cy="1498038"/>
          </a:xfrm>
          <a:prstGeom prst="rect">
            <a:avLst/>
          </a:prstGeom>
        </p:spPr>
      </p:pic>
      <p:sp>
        <p:nvSpPr>
          <p:cNvPr id="728045460" name=""/>
          <p:cNvSpPr txBox="1"/>
          <p:nvPr/>
        </p:nvSpPr>
        <p:spPr bwMode="auto">
          <a:xfrm rot="0" flipH="0" flipV="0">
            <a:off x="532713" y="5961193"/>
            <a:ext cx="14942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ctr">
              <a:spcBef>
                <a:spcPts val="0"/>
              </a:spcBef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Reference</a:t>
            </a:r>
            <a:endParaRPr lang="pt-BR" sz="6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752392626" name=""/>
          <p:cNvSpPr txBox="1"/>
          <p:nvPr/>
        </p:nvSpPr>
        <p:spPr bwMode="auto">
          <a:xfrm rot="0" flipH="0" flipV="0">
            <a:off x="2172004" y="5961193"/>
            <a:ext cx="14987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ctr">
              <a:spcBef>
                <a:spcPts val="0"/>
              </a:spcBef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StegaStamp</a:t>
            </a:r>
            <a:endParaRPr lang="pt-BR" sz="6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1045732332" name=""/>
          <p:cNvSpPr txBox="1"/>
          <p:nvPr/>
        </p:nvSpPr>
        <p:spPr bwMode="auto">
          <a:xfrm rot="0" flipH="0" flipV="0">
            <a:off x="3822259" y="5961193"/>
            <a:ext cx="14994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ctr">
              <a:spcBef>
                <a:spcPts val="0"/>
              </a:spcBef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CodeFace</a:t>
            </a:r>
            <a:endParaRPr lang="pt-BR" sz="6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1181118619" name=""/>
          <p:cNvSpPr txBox="1"/>
          <p:nvPr/>
        </p:nvSpPr>
        <p:spPr bwMode="auto">
          <a:xfrm rot="0" flipH="0" flipV="0">
            <a:off x="5464541" y="5961193"/>
            <a:ext cx="14997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ctr">
              <a:spcBef>
                <a:spcPts val="0"/>
              </a:spcBef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RiemStega</a:t>
            </a:r>
            <a:endParaRPr lang="pt-BR" sz="6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161768361" name=""/>
          <p:cNvSpPr txBox="1"/>
          <p:nvPr/>
        </p:nvSpPr>
        <p:spPr bwMode="auto">
          <a:xfrm rot="0" flipH="0" flipV="0">
            <a:off x="7104769" y="5961193"/>
            <a:ext cx="14987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ctr">
              <a:spcBef>
                <a:spcPts val="0"/>
              </a:spcBef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StampOne</a:t>
            </a:r>
            <a:endParaRPr lang="pt-BR" sz="6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1560753989" name=""/>
          <p:cNvSpPr txBox="1"/>
          <p:nvPr/>
        </p:nvSpPr>
        <p:spPr bwMode="auto">
          <a:xfrm rot="0" flipH="0" flipV="0">
            <a:off x="567490" y="2063748"/>
            <a:ext cx="8145139" cy="174317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steganography</a:t>
            </a:r>
            <a:endParaRPr lang="pt-BR" sz="1200" b="1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/ˌstɛɡəˈnɒɡrəfi/ · noun · [uncountable]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  <a:p>
            <a:pPr marL="0" lvl="0" indent="0" algn="l">
              <a:spcBef>
                <a:spcPts val="0"/>
              </a:spcBef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200" b="0" i="1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The practice of writing hidden messages in ordinary text, pictures, etc.</a:t>
            </a:r>
            <a:endParaRPr sz="1200" b="0" i="1">
              <a:solidFill>
                <a:srgbClr val="6E593E"/>
              </a:solidFill>
              <a:latin typeface="Verdana"/>
            </a:endParaRPr>
          </a:p>
          <a:p>
            <a:pPr marL="0" lvl="0" indent="0" algn="ctr">
              <a:spcBef>
                <a:spcPts val="0"/>
              </a:spcBef>
              <a:buNone/>
              <a:defRPr/>
            </a:pPr>
            <a:endParaRPr sz="1200" b="0" i="1">
              <a:solidFill>
                <a:srgbClr val="6E593E"/>
              </a:solidFill>
              <a:latin typeface="Verdana"/>
            </a:endParaRPr>
          </a:p>
          <a:p>
            <a:pPr marL="0" lvl="0" indent="0" algn="ctr">
              <a:spcBef>
                <a:spcPts val="0"/>
              </a:spcBef>
              <a:buNone/>
              <a:defRPr/>
            </a:pPr>
            <a:endParaRPr sz="1200" b="0" i="1">
              <a:solidFill>
                <a:srgbClr val="6E593E"/>
              </a:solidFill>
              <a:latin typeface="Verdana"/>
            </a:endParaRPr>
          </a:p>
          <a:p>
            <a:pPr marL="0" lvl="0" indent="0" algn="ctr">
              <a:spcBef>
                <a:spcPts val="0"/>
              </a:spcBef>
              <a:buNone/>
              <a:defRPr/>
            </a:pPr>
            <a:endParaRPr sz="1200" b="0" i="1">
              <a:solidFill>
                <a:srgbClr val="6E593E"/>
              </a:solidFill>
              <a:latin typeface="Verdana"/>
            </a:endParaRPr>
          </a:p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We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encoded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102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 images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 with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4 different steganography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 methods, at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9 levels of intensity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 each, resulting in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a total of 3672 images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.</a:t>
            </a:r>
            <a:endParaRPr sz="1200" b="0" i="0">
              <a:solidFill>
                <a:srgbClr val="6E593E"/>
              </a:solidFill>
              <a:latin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245041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751410857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330042671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54821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Dataset</a:t>
            </a:r>
            <a:endParaRPr/>
          </a:p>
        </p:txBody>
      </p:sp>
      <p:pic>
        <p:nvPicPr>
          <p:cNvPr id="1926785213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404787599" name=""/>
          <p:cNvSpPr txBox="1"/>
          <p:nvPr/>
        </p:nvSpPr>
        <p:spPr bwMode="auto">
          <a:xfrm rot="0" flipH="0" flipV="0">
            <a:off x="563726" y="2063748"/>
            <a:ext cx="1819461" cy="30178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pt-BR" sz="1200" b="1" i="0">
                <a:solidFill>
                  <a:srgbClr val="6E593E"/>
                </a:solidFill>
                <a:latin typeface="Verdana"/>
              </a:rPr>
              <a:t>MOS set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: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marL="217793" lvl="0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15 identities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marL="217793" lvl="0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540 images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marL="217793" lvl="0" indent="-217793" algn="l">
              <a:spcBef>
                <a:spcPts val="0"/>
              </a:spcBef>
              <a:buFont typeface="Arial"/>
              <a:buChar char="–"/>
              <a:defRPr/>
            </a:pP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defRPr/>
            </a:pP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      MOS train set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:</a:t>
            </a:r>
            <a:endParaRPr lang="pt-BR" sz="1200" b="0" i="0" u="none" strike="noStrike" cap="none" spc="0">
              <a:solidFill>
                <a:srgbClr val="6E593E"/>
              </a:solidFill>
              <a:latin typeface="Times New Roman"/>
              <a:cs typeface="Times New Roman"/>
            </a:endParaRPr>
          </a:p>
          <a:p>
            <a:pPr marL="617842" lvl="1" indent="-217792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12 identities</a:t>
            </a:r>
            <a:endParaRPr sz="1200" b="0" i="0">
              <a:solidFill>
                <a:srgbClr val="6E593E"/>
              </a:solidFill>
              <a:latin typeface="Verdana"/>
            </a:endParaRPr>
          </a:p>
          <a:p>
            <a:pPr marL="617843" lvl="1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360 images</a:t>
            </a:r>
            <a:endParaRPr lang="pt-BR" sz="1200" b="0" i="0" u="none" strike="noStrike" cap="none" spc="0">
              <a:solidFill>
                <a:srgbClr val="6E593E"/>
              </a:solidFill>
              <a:latin typeface="Times New Roman"/>
              <a:cs typeface="Times New Roman"/>
            </a:endParaRPr>
          </a:p>
          <a:p>
            <a:pPr lvl="1" algn="l">
              <a:spcBef>
                <a:spcPts val="0"/>
              </a:spcBef>
              <a:defRPr/>
            </a:pP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      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MOS test set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:</a:t>
            </a:r>
            <a:endParaRPr lang="pt-BR" sz="1200" b="0" i="0" u="none" strike="noStrike" cap="none" spc="0">
              <a:solidFill>
                <a:srgbClr val="6E593E"/>
              </a:solidFill>
              <a:latin typeface="Times New Roman"/>
              <a:cs typeface="Times New Roman"/>
            </a:endParaRPr>
          </a:p>
          <a:p>
            <a:pPr marL="617843" lvl="1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3 identities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marL="617843" lvl="1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90 images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lvl="1" algn="l">
              <a:spcBef>
                <a:spcPts val="0"/>
              </a:spcBef>
              <a:defRPr/>
            </a:pP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lvl="1" algn="l">
              <a:spcBef>
                <a:spcPts val="0"/>
              </a:spcBef>
              <a:defRPr/>
            </a:pP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defRPr/>
            </a:pPr>
            <a:r>
              <a:rPr lang="pt-BR" sz="1200" b="1" i="0">
                <a:solidFill>
                  <a:srgbClr val="6E593E"/>
                </a:solidFill>
                <a:latin typeface="Verdana"/>
              </a:rPr>
              <a:t>Pseudo-MOS set:</a:t>
            </a:r>
            <a:endParaRPr lang="pt-BR" sz="1200" b="1" i="0">
              <a:solidFill>
                <a:srgbClr val="6E593E"/>
              </a:solidFill>
              <a:latin typeface="Verdana"/>
            </a:endParaRPr>
          </a:p>
          <a:p>
            <a:pPr marL="217793" lvl="0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87 identities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marL="217793" lvl="0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3.13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2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 images</a:t>
            </a:r>
            <a:endParaRPr sz="1200" b="0" i="0">
              <a:solidFill>
                <a:srgbClr val="6E593E"/>
              </a:solidFill>
              <a:latin typeface="Verdana"/>
            </a:endParaRPr>
          </a:p>
        </p:txBody>
      </p:sp>
      <p:pic>
        <p:nvPicPr>
          <p:cNvPr id="26692270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566941" y="2039147"/>
            <a:ext cx="4646132" cy="3483033"/>
          </a:xfrm>
          <a:prstGeom prst="rect">
            <a:avLst/>
          </a:prstGeom>
        </p:spPr>
      </p:pic>
      <p:pic>
        <p:nvPicPr>
          <p:cNvPr id="86368147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7475011" y="2039147"/>
            <a:ext cx="1162575" cy="3483033"/>
          </a:xfrm>
          <a:prstGeom prst="rect">
            <a:avLst/>
          </a:prstGeom>
        </p:spPr>
      </p:pic>
      <p:sp>
        <p:nvSpPr>
          <p:cNvPr id="208231590" name="TextBox 3"/>
          <p:cNvSpPr txBox="1">
            <a:spLocks noChangeShapeType="1" noGrp="1"/>
          </p:cNvSpPr>
          <p:nvPr/>
        </p:nvSpPr>
        <p:spPr bwMode="auto">
          <a:xfrm flipH="0" flipV="0">
            <a:off x="2566941" y="5619739"/>
            <a:ext cx="4646852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MOS train set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799883354" name="TextBox 3"/>
          <p:cNvSpPr txBox="1">
            <a:spLocks noChangeShapeType="1" noGrp="1"/>
          </p:cNvSpPr>
          <p:nvPr/>
        </p:nvSpPr>
        <p:spPr bwMode="auto">
          <a:xfrm flipH="0" flipV="0">
            <a:off x="7475011" y="5619739"/>
            <a:ext cx="1191231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MOS test set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178088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815197251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710882545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2674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Subjective Labeling Protocol</a:t>
            </a:r>
            <a:endParaRPr/>
          </a:p>
        </p:txBody>
      </p:sp>
      <p:pic>
        <p:nvPicPr>
          <p:cNvPr id="1328433718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1481722521" name=""/>
          <p:cNvSpPr txBox="1"/>
          <p:nvPr/>
        </p:nvSpPr>
        <p:spPr bwMode="auto">
          <a:xfrm rot="0" flipH="0" flipV="0">
            <a:off x="563726" y="2063748"/>
            <a:ext cx="8116699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Custom web application built with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Django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for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MOS collection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;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Adopted ITU-R BT.500-15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Single Stimulus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protocol;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Over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200 participants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rated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~70 images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each, resulting in over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14.000 ratings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;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 Information collected: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gender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age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ethnicity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country of origin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education level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 etc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.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 algn="ctr">
              <a:spcBef>
                <a:spcPts val="0"/>
              </a:spcBef>
              <a:defRPr/>
            </a:pPr>
            <a:endParaRPr lang="pt-BR" sz="1200" b="0">
              <a:solidFill>
                <a:srgbClr val="6E593E"/>
              </a:solidFill>
              <a:latin typeface="Verdana"/>
            </a:endParaRPr>
          </a:p>
        </p:txBody>
      </p:sp>
      <p:graphicFrame>
        <p:nvGraphicFramePr>
          <p:cNvPr id="335737115" name=""/>
          <p:cNvGraphicFramePr>
            <a:graphicFrameLocks xmlns:a="http://schemas.openxmlformats.org/drawingml/2006/main"/>
          </p:cNvGraphicFramePr>
          <p:nvPr/>
        </p:nvGraphicFramePr>
        <p:xfrm>
          <a:off x="2630500" y="3866101"/>
          <a:ext cx="1501405" cy="174207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744352"/>
                <a:gridCol w="744352"/>
              </a:tblGrid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Age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Count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3034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&lt;18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18-25</a:t>
                      </a:r>
                      <a:endParaRPr sz="12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85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26-40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54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41-60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52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&gt;60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9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1984907" name=""/>
          <p:cNvGraphicFramePr>
            <a:graphicFrameLocks xmlns:a="http://schemas.openxmlformats.org/drawingml/2006/main"/>
          </p:cNvGraphicFramePr>
          <p:nvPr/>
        </p:nvGraphicFramePr>
        <p:xfrm>
          <a:off x="563726" y="3866101"/>
          <a:ext cx="1558544" cy="89195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841089"/>
                <a:gridCol w="704756"/>
              </a:tblGrid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Gender</a:t>
                      </a:r>
                      <a:endParaRPr sz="1200" b="1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Count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3034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Male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143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Female</a:t>
                      </a:r>
                      <a:endParaRPr sz="12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59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7462288" name=""/>
          <p:cNvGraphicFramePr>
            <a:graphicFrameLocks xmlns:a="http://schemas.openxmlformats.org/drawingml/2006/main"/>
          </p:cNvGraphicFramePr>
          <p:nvPr/>
        </p:nvGraphicFramePr>
        <p:xfrm>
          <a:off x="4622076" y="3866101"/>
          <a:ext cx="1750878" cy="174207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990000"/>
                <a:gridCol w="748179"/>
              </a:tblGrid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Ethnicity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Count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3034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White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177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Latino</a:t>
                      </a:r>
                      <a:endParaRPr sz="12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8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Black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6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Multiracial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Oher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7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5924601" name=""/>
          <p:cNvGraphicFramePr>
            <a:graphicFrameLocks xmlns:a="http://schemas.openxmlformats.org/drawingml/2006/main"/>
          </p:cNvGraphicFramePr>
          <p:nvPr/>
        </p:nvGraphicFramePr>
        <p:xfrm>
          <a:off x="6839083" y="3866101"/>
          <a:ext cx="1750878" cy="174207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990000"/>
                <a:gridCol w="748179"/>
              </a:tblGrid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Country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Count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3034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Portugal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170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Brazil</a:t>
                      </a:r>
                      <a:endParaRPr sz="12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16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Russia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India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Ohers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11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494767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919756968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941951799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4078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Removing Bias from Human Scores</a:t>
            </a:r>
            <a:endParaRPr/>
          </a:p>
        </p:txBody>
      </p:sp>
      <p:pic>
        <p:nvPicPr>
          <p:cNvPr id="243994007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graphicFrame>
        <p:nvGraphicFramePr>
          <p:cNvPr id="613385181" name=""/>
          <p:cNvGraphicFramePr>
            <a:graphicFrameLocks xmlns:a="http://schemas.openxmlformats.org/drawingml/2006/main"/>
          </p:cNvGraphicFramePr>
          <p:nvPr/>
        </p:nvGraphicFramePr>
        <p:xfrm>
          <a:off x="563726" y="3004342"/>
          <a:ext cx="8006309" cy="221981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870000"/>
                <a:gridCol w="1710000"/>
                <a:gridCol w="2413610"/>
              </a:tblGrid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Factor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p-value</a:t>
                      </a:r>
                      <a:endParaRPr lang="pt-BR" sz="12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p-value (residualized)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28687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Subject attractiveness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0.3173</a:t>
                      </a:r>
                      <a:endParaRPr lang="pt-BR"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0.3173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Observer Gender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0.022</a:t>
                      </a:r>
                      <a:endParaRPr lang="pt-BR"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0.9930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Observer ethnicity</a:t>
                      </a:r>
                      <a:endParaRPr sz="12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8.44 × 10^−4</a:t>
                      </a:r>
                      <a:endParaRPr lang="pt-BR"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6043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Subject gender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1.60 × 10^−3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0.9720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Subject ethnicity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7.36 × 10^−3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Observer gender × Subject gender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0.6417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0.6417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Observer ethnicity × Subject ethnicity</a:t>
                      </a:r>
                      <a:endParaRPr lang="pt-BR" sz="120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0.0582</a:t>
                      </a:r>
                      <a:endParaRPr lang="pt-BR"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0.0582</a:t>
                      </a:r>
                      <a:endParaRPr lang="pt-BR"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</a:tbl>
          </a:graphicData>
        </a:graphic>
      </p:graphicFrame>
      <p:sp>
        <p:nvSpPr>
          <p:cNvPr id="309889742" name=""/>
          <p:cNvSpPr txBox="1"/>
          <p:nvPr/>
        </p:nvSpPr>
        <p:spPr bwMode="auto">
          <a:xfrm rot="0" flipH="0" flipV="0">
            <a:off x="563726" y="5423692"/>
            <a:ext cx="80228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Table shows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ANOVA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and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mANOVA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results for observer and image attributes. Before debiasing,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several factors show statistically significant effects on MOS,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p-value &lt; 0.05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 After residualiza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tion, all main effects show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no significant impact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confirming the effectiveness of the debiasing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procedure.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  <p:sp>
        <p:nvSpPr>
          <p:cNvPr id="1421325519" name=""/>
          <p:cNvSpPr txBox="1"/>
          <p:nvPr/>
        </p:nvSpPr>
        <p:spPr bwMode="auto">
          <a:xfrm rot="0" flipH="0" flipV="0">
            <a:off x="563726" y="2063748"/>
            <a:ext cx="8026828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An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Ordinary Least Squares (OLS)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regression was fit to the MOS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values, using observer and image attributes, and their pairwise interactions as categorical pre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dictors.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376107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43771326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9894434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4114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Relation between MOS and 40 FR-IQA Metrics</a:t>
            </a:r>
            <a:endParaRPr/>
          </a:p>
        </p:txBody>
      </p:sp>
      <p:pic>
        <p:nvPicPr>
          <p:cNvPr id="1867930946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pic>
        <p:nvPicPr>
          <p:cNvPr id="176406249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71077" y="2063748"/>
            <a:ext cx="7001844" cy="43374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148802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439415853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28375147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4114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Full-Reference Fusion Metric</a:t>
            </a:r>
            <a:endParaRPr/>
          </a:p>
        </p:txBody>
      </p:sp>
      <p:pic>
        <p:nvPicPr>
          <p:cNvPr id="615650212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1879408772" name=""/>
          <p:cNvSpPr txBox="1"/>
          <p:nvPr/>
        </p:nvSpPr>
        <p:spPr bwMode="auto">
          <a:xfrm rot="0" flipH="0" flipV="0">
            <a:off x="563726" y="2063748"/>
            <a:ext cx="80300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Top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k=6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metrics were: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MS-SSIM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PSNR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PSNR-B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SNR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VIF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and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UQI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 These stand for Multiscale Structural Similarity Index Metric, Peak Signal-to-Noise Ratio, PSNR-Blocks, Signal-to-Noise Ratio, Visual Information Fidelity, and Universal Quality Index, respectively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  <p:pic>
        <p:nvPicPr>
          <p:cNvPr id="14192426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3726" y="3159057"/>
            <a:ext cx="3776522" cy="2697516"/>
          </a:xfrm>
          <a:prstGeom prst="rect">
            <a:avLst/>
          </a:prstGeom>
        </p:spPr>
      </p:pic>
      <p:pic>
        <p:nvPicPr>
          <p:cNvPr id="30968183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859496" y="3159057"/>
            <a:ext cx="3731418" cy="26652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70942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976795343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445256570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4150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Pseudo-MOS Regression Model</a:t>
            </a:r>
            <a:endParaRPr/>
          </a:p>
        </p:txBody>
      </p:sp>
      <p:pic>
        <p:nvPicPr>
          <p:cNvPr id="1507870900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68187750" name=""/>
          <p:cNvSpPr txBox="1"/>
          <p:nvPr/>
        </p:nvSpPr>
        <p:spPr bwMode="auto">
          <a:xfrm rot="0" flipH="0" flipV="0">
            <a:off x="563726" y="2521308"/>
            <a:ext cx="393706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Table shows the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performance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of our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Fusion metric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and the selected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FR-IQA metrics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  <p:graphicFrame>
        <p:nvGraphicFramePr>
          <p:cNvPr id="805733845" name=""/>
          <p:cNvGraphicFramePr>
            <a:graphicFrameLocks xmlns:a="http://schemas.openxmlformats.org/drawingml/2006/main"/>
          </p:cNvGraphicFramePr>
          <p:nvPr/>
        </p:nvGraphicFramePr>
        <p:xfrm>
          <a:off x="563726" y="3132666"/>
          <a:ext cx="4368106" cy="221981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810000"/>
                <a:gridCol w="810671"/>
                <a:gridCol w="810335"/>
                <a:gridCol w="729301"/>
                <a:gridCol w="761181"/>
              </a:tblGrid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Metric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PLCC</a:t>
                      </a:r>
                      <a:endParaRPr sz="10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SRCC</a:t>
                      </a:r>
                      <a:endParaRPr sz="10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MSE</a:t>
                      </a:r>
                      <a:endParaRPr sz="10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MAE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28687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1">
                          <a:solidFill>
                            <a:srgbClr val="6E593E"/>
                          </a:solidFill>
                          <a:latin typeface="Verdana"/>
                          <a:cs typeface="Verdana"/>
                        </a:rPr>
                        <a:t>Fusion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0.8881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0.8893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65.07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6.160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63062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MS-SSIM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0.7712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0.8489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2542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47.27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PSNR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0.8009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0.8132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420.7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16.57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67242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PSNR-B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0.7996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0.8126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434.8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16.84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SNR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0.7931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0.8047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493.9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18.08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VIF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0.7723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0.7671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2584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47.75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UQI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0.6866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0.8085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2540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47.24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</a:tbl>
          </a:graphicData>
        </a:graphic>
      </p:graphicFrame>
      <p:pic>
        <p:nvPicPr>
          <p:cNvPr id="1215665900" name=""/>
          <p:cNvPicPr>
            <a:picLocks noChangeAspect="1"/>
          </p:cNvPicPr>
          <p:nvPr/>
        </p:nvPicPr>
        <p:blipFill>
          <a:blip r:embed="rId4"/>
          <a:srcRect l="1229" t="2797" r="6159" b="3186"/>
          <a:stretch/>
        </p:blipFill>
        <p:spPr bwMode="auto">
          <a:xfrm flipH="0" flipV="0">
            <a:off x="4701236" y="3187339"/>
            <a:ext cx="3936348" cy="2110472"/>
          </a:xfrm>
          <a:prstGeom prst="rect">
            <a:avLst/>
          </a:prstGeom>
        </p:spPr>
      </p:pic>
      <p:sp>
        <p:nvSpPr>
          <p:cNvPr id="1678375919" name=""/>
          <p:cNvSpPr txBox="1"/>
          <p:nvPr/>
        </p:nvSpPr>
        <p:spPr bwMode="auto">
          <a:xfrm rot="0" flipH="0" flipV="0">
            <a:off x="4701236" y="2521308"/>
            <a:ext cx="3937788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SHAP summary plot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for k=6, generated from the best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CatBoos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model.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31300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299363069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587796163" name="TextBox 3"/>
          <p:cNvSpPr txBox="1">
            <a:spLocks noChangeShapeType="1" noGrp="1"/>
          </p:cNvSpPr>
          <p:nvPr/>
        </p:nvSpPr>
        <p:spPr bwMode="auto">
          <a:xfrm flipH="0" flipV="0">
            <a:off x="563725" y="1385885"/>
            <a:ext cx="8260942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Tampere Image Databse (TID) 2013 Set</a:t>
            </a:r>
            <a:endParaRPr/>
          </a:p>
        </p:txBody>
      </p:sp>
      <p:pic>
        <p:nvPicPr>
          <p:cNvPr id="1488682102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pic>
        <p:nvPicPr>
          <p:cNvPr id="149921528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98356" y="1968995"/>
            <a:ext cx="5747285" cy="4311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745056" name="Rectangle 8"/>
          <p:cNvSpPr>
            <a:spLocks noChangeShapeType="1" noGrp="1"/>
          </p:cNvSpPr>
          <p:nvPr/>
        </p:nvSpPr>
        <p:spPr bwMode="auto">
          <a:xfrm>
            <a:off x="-58735" y="1697035"/>
            <a:ext cx="184148" cy="366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2096815723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444731791" name="TextBox 3"/>
          <p:cNvSpPr txBox="1">
            <a:spLocks noChangeShapeType="1" noGrp="1"/>
          </p:cNvSpPr>
          <p:nvPr/>
        </p:nvSpPr>
        <p:spPr bwMode="auto">
          <a:xfrm flipH="0" flipV="0">
            <a:off x="563725" y="1385885"/>
            <a:ext cx="8268502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TID2013 Distortions</a:t>
            </a:r>
            <a:endParaRPr/>
          </a:p>
        </p:txBody>
      </p:sp>
      <p:pic>
        <p:nvPicPr>
          <p:cNvPr id="22791754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3"/>
            <a:ext cx="2336798" cy="419098"/>
          </a:xfrm>
          <a:prstGeom prst="rect">
            <a:avLst/>
          </a:prstGeom>
          <a:noFill/>
        </p:spPr>
      </p:pic>
      <p:pic>
        <p:nvPicPr>
          <p:cNvPr id="168767151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98356" y="1968995"/>
            <a:ext cx="5747285" cy="4311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Defaul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800080"/>
      </a:folHlink>
    </a:clrScheme>
    <a:fontScheme name="default">
      <a:majorFont>
        <a:latin typeface="Arial"/>
        <a:ea typeface="Arial"/>
        <a:cs typeface="Arial"/>
      </a:majorFont>
      <a:minorFont>
        <a:latin typeface="ＭＳ Ｐゴシック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563C1"/>
      </a:hlink>
      <a:folHlink>
        <a:srgbClr val="954F72"/>
      </a:folHlink>
    </a:clrScheme>
    <a:fontScheme name="default">
      <a:majorFont>
        <a:latin typeface="Arial"/>
        <a:ea typeface="Arial"/>
        <a:cs typeface="Arial"/>
      </a:majorFont>
      <a:minorFont>
        <a:latin typeface="ＭＳ Ｐゴシック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Universidade  de Coimbra</dc:creator>
  <cp:lastModifiedBy/>
  <cp:revision>29</cp:revision>
  <dcterms:created xsi:type="dcterms:W3CDTF">2009-05-19T14:21:00Z</dcterms:created>
  <dcterms:modified xsi:type="dcterms:W3CDTF">2025-09-23T22:42:49Z</dcterms:modified>
</cp:coreProperties>
</file>