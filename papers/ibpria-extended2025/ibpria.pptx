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pt-P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E8034E78-7F5D-4C2E-B375-FC64B27BC917}">
  <a:tblStyle styleId="{E8034E78-7F5D-4C2E-B375-FC64B27BC917}" styleName="Dark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>
              <a:noFill/>
            </a:ln>
          </a:top>
        </a:tcBdr>
        <a:fill>
          <a:solidFill>
            <a:schemeClr val="dk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7" d="100"/>
          <a:sy n="97" d="100"/>
        </p:scale>
        <p:origin x="1140" y="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250868" name="Marcador de Posição do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26653289" name="Marcador de Posição d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C6CE17A-3DC5-441C-AB02-EEB473D1A111}" type="datetimeFigureOut">
              <a:rPr lang="pt-PT"/>
              <a:t>31/01/2024</a:t>
            </a:fld>
            <a:endParaRPr lang="pt-PT"/>
          </a:p>
        </p:txBody>
      </p:sp>
      <p:sp>
        <p:nvSpPr>
          <p:cNvPr id="807062040" name="Marcador de Posição da Imagem do Diapositivo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PT"/>
          </a:p>
        </p:txBody>
      </p:sp>
      <p:sp>
        <p:nvSpPr>
          <p:cNvPr id="1359643478" name="Marcador de Posição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2095749583" name="Marcador de Posição d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55554626" name="Marcador de Posição d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F69628-36B0-4D83-AC59-D63939428335}" type="slidenum">
              <a:rPr lang="pt-PT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972258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1AFF6544-24C9-434F-B312-A55FDD1F7463}" type="slidenum">
              <a:rPr/>
              <a:t>1</a:t>
            </a:fld>
            <a:endParaRPr lang="en-US"/>
          </a:p>
        </p:txBody>
      </p:sp>
      <p:sp>
        <p:nvSpPr>
          <p:cNvPr id="10452496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400" y="763588"/>
            <a:ext cx="6705600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448551064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 morning, my name is André Neto. I'm presenting work done with Nuno Gonçalves at the University of Coimbra, where we propose a new framework for facial image quality assessment using Pseudo-MOS learning</a:t>
            </a:r>
            <a:r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method that bridges the gap between full-reference and no-reference evaluation.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592873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DD8027CC-B18A-284E-90A8-7CD6CB82D549}" type="slidenum">
              <a:rPr/>
              <a:t>2</a:t>
            </a:fld>
            <a:endParaRPr lang="en-US"/>
          </a:p>
        </p:txBody>
      </p:sp>
      <p:sp>
        <p:nvSpPr>
          <p:cNvPr id="61797810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400" y="763588"/>
            <a:ext cx="6705600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868101010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Face Image Quality Assessment, or FIQA, is a tool used to estimate how suitable a facial image is for any automatic processing task.</a:t>
            </a:r>
            <a:endParaRPr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This includes not only face recognition, but also face verification, expression analysis, demographic estimation, face synthesis or editing, and even when encoding Machine-readable travel documents like passports or ID cards, where image quality must meet strict standards.</a:t>
            </a:r>
            <a:endParaRPr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On the left, we see two versions of the same person. The original image is clear and well-lit. The second has visible artifacts.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 this example, a Full-Reference FIQA (FR-FIQA) model gives a score of 0.38, aligned with the human-perceived quality or Mean Opinion Score (MOS) of 0.40.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 contrast, the No-Reference FIQA (NR-FIQA) model gives a misleadingly high score of 0.87, despite the distortions.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we know FR-IQA is more reliable than NR-IQA, but realistically, there aren’t a lot of real life application for it, you rarely have the reference image laying around.</a:t>
            </a:r>
            <a:endParaRPr lang="en-US"/>
          </a:p>
          <a:p>
            <a:pPr>
              <a:defRPr/>
            </a:pPr>
            <a:r>
              <a:rPr lang="en-US"/>
              <a:t>The main problem of the NR-IQA, is that you need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332484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AEEFA7B3-E458-1B94-028F-6DB99F181BE5}" type="slidenum">
              <a:rPr/>
              <a:t/>
            </a:fld>
            <a:endParaRPr lang="en-US"/>
          </a:p>
        </p:txBody>
      </p:sp>
      <p:sp>
        <p:nvSpPr>
          <p:cNvPr id="2040147559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9" y="763587"/>
            <a:ext cx="6705599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794043757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181818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1ECF60A8-D96B-3C2A-F24B-61B1468C2251}" type="slidenum">
              <a:rPr/>
              <a:t/>
            </a:fld>
            <a:endParaRPr lang="en-US"/>
          </a:p>
        </p:txBody>
      </p:sp>
      <p:sp>
        <p:nvSpPr>
          <p:cNvPr id="1604603511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2140018910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We took in a publically available dataset, the FRLL, and distorted it using 4 different printer-proof steganography methods at 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031310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CB23C19B-69A2-26FE-77D4-8634D3BB2B36}" type="slidenum">
              <a:rPr/>
              <a:t/>
            </a:fld>
            <a:endParaRPr lang="en-US"/>
          </a:p>
        </p:txBody>
      </p:sp>
      <p:sp>
        <p:nvSpPr>
          <p:cNvPr id="2089193982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9" y="763587"/>
            <a:ext cx="6705599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271546489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817375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EC3155C0-C0B1-73D1-2AE8-8666DEC902E7}" type="slidenum">
              <a:rPr/>
              <a:t/>
            </a:fld>
            <a:endParaRPr lang="en-US"/>
          </a:p>
        </p:txBody>
      </p:sp>
      <p:sp>
        <p:nvSpPr>
          <p:cNvPr id="1377250870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931149781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99143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C96E61F9-2785-79E1-C223-702D0D79E182}" type="slidenum">
              <a:rPr/>
              <a:t/>
            </a:fld>
            <a:endParaRPr lang="en-US"/>
          </a:p>
        </p:txBody>
      </p:sp>
      <p:sp>
        <p:nvSpPr>
          <p:cNvPr id="1044991702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6305411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29847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F9576D62-9A94-93F0-E1AD-F92A0DB43A00}" type="slidenum">
              <a:rPr/>
              <a:t/>
            </a:fld>
            <a:endParaRPr lang="en-US"/>
          </a:p>
        </p:txBody>
      </p:sp>
      <p:sp>
        <p:nvSpPr>
          <p:cNvPr id="505884008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201214696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662408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BFC704D3-7131-78D9-8119-7BF01FB0F7ED}" type="slidenum">
              <a:rPr/>
              <a:t/>
            </a:fld>
            <a:endParaRPr lang="en-US"/>
          </a:p>
        </p:txBody>
      </p:sp>
      <p:sp>
        <p:nvSpPr>
          <p:cNvPr id="673010081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781150763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433837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034A4EFA-A962-A8A3-CA93-2AE4C43D995D}" type="slidenum">
              <a:rPr/>
              <a:t/>
            </a:fld>
            <a:endParaRPr lang="en-US"/>
          </a:p>
        </p:txBody>
      </p:sp>
      <p:sp>
        <p:nvSpPr>
          <p:cNvPr id="1382303150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22343518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444486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8DA05DAB-CB57-8F3D-BEC2-CC052C265C80}" type="slidenum">
              <a:rPr/>
              <a:t/>
            </a:fld>
            <a:endParaRPr lang="en-US"/>
          </a:p>
        </p:txBody>
      </p:sp>
      <p:sp>
        <p:nvSpPr>
          <p:cNvPr id="900736367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527950073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820235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D2C963B5-E9E1-40E7-A538-D044A57CC26B}" type="slidenum">
              <a:rPr/>
              <a:t/>
            </a:fld>
            <a:endParaRPr lang="en-US"/>
          </a:p>
        </p:txBody>
      </p:sp>
      <p:sp>
        <p:nvSpPr>
          <p:cNvPr id="1003852947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959324731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378070" name="Espaço Reservado para Número de Slide 6"/>
          <p:cNvSpPr txBox="1">
            <a:spLocks noGrp="1"/>
          </p:cNvSpPr>
          <p:nvPr>
            <p:ph type="sldNum" sz="quarter" idx="5"/>
          </p:nvPr>
        </p:nvSpPr>
        <p:spPr bwMode="auto">
          <a:ln/>
        </p:spPr>
        <p:txBody>
          <a:bodyPr lIns="0" tIns="0" rIns="0" bIns="0" anchor="b" anchorCtr="0">
            <a:noAutofit/>
          </a:bodyPr>
          <a:lstStyle/>
          <a:p>
            <a:pPr lvl="0">
              <a:defRPr/>
            </a:pPr>
            <a:fld id="{8024E0B0-E7F2-6CCA-E582-D1BDC24BBEDC}" type="slidenum">
              <a:rPr/>
              <a:t/>
            </a:fld>
            <a:endParaRPr lang="en-US"/>
          </a:p>
        </p:txBody>
      </p:sp>
      <p:sp>
        <p:nvSpPr>
          <p:cNvPr id="2144999900" name="Espaço Reservado para Imagem de Slide 1"/>
          <p:cNvSpPr>
            <a:spLocks noChangeAspect="1" noGrp="1" noResize="1" noRot="1"/>
          </p:cNvSpPr>
          <p:nvPr>
            <p:ph type="sldImg"/>
          </p:nvPr>
        </p:nvSpPr>
        <p:spPr bwMode="auto">
          <a:xfrm>
            <a:off x="533398" y="763587"/>
            <a:ext cx="6705598" cy="3771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740019194" name="Espaço Reservado para Anotações 2"/>
          <p:cNvSpPr txBox="1">
            <a:spLocks noGrp="1"/>
          </p:cNvSpPr>
          <p:nvPr>
            <p:ph type="body" sz="quarter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75239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768311339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PT"/>
              <a:t>Clique para editar o estilo de subtítulo do Modelo Global</a:t>
            </a:r>
            <a:endParaRPr/>
          </a:p>
        </p:txBody>
      </p:sp>
      <p:sp>
        <p:nvSpPr>
          <p:cNvPr id="694269164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798516741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896964409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85029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013154334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574850169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137380479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856304725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875211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77487684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291017264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706979594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703135419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8851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340830076" name="Marcador de Posição de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1207909879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272910865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803473570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17655726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907564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789223446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965081932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916854423" name="Marcador de Posição do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188511656" name="Marcador de Posição de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873833249" name="Marcador de Posição d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772885765" name="Marcador de Posição do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470597048" name="Marcador de Posição do Número do Diapositivo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66505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2004786857" name="Marcador de Posição d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975148275" name="Marcador de Posição do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78297946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651990" name="Marcador de Posição d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29935272" name="Marcador de Posição do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868812453" name="Marcador de Posição do Número do Diapositivo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71450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683830321" name="Marcador de Posição de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468826889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375646695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708474131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37752801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25613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956731228" name="Marcador de Posição da Imagem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PT"/>
          </a:p>
        </p:txBody>
      </p:sp>
      <p:sp>
        <p:nvSpPr>
          <p:cNvPr id="1899418242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111953569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911583281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982912683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01430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650349872" name="Marcador de Posição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723170297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2122238582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549003613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93868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130101721" name="Marcador de Posição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1075022473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985763104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495246692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902524" name="Marcador de Posição do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/>
          </a:p>
        </p:txBody>
      </p:sp>
      <p:sp>
        <p:nvSpPr>
          <p:cNvPr id="1637463931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1157440295" name="Marcador de Posição d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774B931-46D9-4D3B-94D1-6DD4575B53B5}" type="datetimeFigureOut">
              <a:rPr lang="pt-PT"/>
              <a:t>31/01/2024</a:t>
            </a:fld>
            <a:endParaRPr lang="pt-PT"/>
          </a:p>
        </p:txBody>
      </p:sp>
      <p:sp>
        <p:nvSpPr>
          <p:cNvPr id="1670774478" name="Marcador de Posição do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131319693" name="Marcador de Posição do Número do Diapositivo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284764-1335-4317-9D3E-4BF1BE99E782}" type="slidenum">
              <a:rPr lang="pt-PT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403324" name="CaixaDeTexto 7"/>
          <p:cNvSpPr/>
          <p:nvPr/>
        </p:nvSpPr>
        <p:spPr bwMode="auto">
          <a:xfrm flipH="0" flipV="0">
            <a:off x="1436608" y="1690143"/>
            <a:ext cx="9251809" cy="11876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Pseudo-MOS Learning:</a:t>
            </a:r>
            <a:endParaRPr lang="en-US" sz="36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A Full-to-No-Reference </a:t>
            </a:r>
            <a:r>
              <a:rPr lang="en-US" sz="36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FIQA Framework</a:t>
            </a:r>
            <a:endParaRPr sz="3600" b="1" i="0" u="none" strike="noStrike" spc="0">
              <a:ln>
                <a:noFill/>
              </a:ln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973879807" name="CaixaDeTexto 8"/>
          <p:cNvSpPr/>
          <p:nvPr/>
        </p:nvSpPr>
        <p:spPr bwMode="auto">
          <a:xfrm>
            <a:off x="1879740" y="3332430"/>
            <a:ext cx="8439119" cy="88283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badi Extra Light"/>
                <a:ea typeface="Abadi Extra Light"/>
                <a:cs typeface="Abadi Extra Light"/>
              </a:rPr>
              <a:t>IbPRIA 2025: 12th Iberian Conference on Pattern Recognition and Image Analysis</a:t>
            </a:r>
            <a:endParaRPr lang="en-US" sz="3200" b="0" i="0" u="none" strike="noStrike" spc="0">
              <a:ln>
                <a:noFill/>
              </a:ln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071783812" name="CaixaDeTexto 9"/>
          <p:cNvSpPr/>
          <p:nvPr/>
        </p:nvSpPr>
        <p:spPr bwMode="auto">
          <a:xfrm>
            <a:off x="1879740" y="5475537"/>
            <a:ext cx="8468638" cy="39515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spc="0">
                <a:ln>
                  <a:noFill/>
                </a:ln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Coimbra, 01-07-2025</a:t>
            </a:r>
            <a:endParaRPr/>
          </a:p>
        </p:txBody>
      </p:sp>
      <p:sp>
        <p:nvSpPr>
          <p:cNvPr id="1697127825" name="Retângulo 10"/>
          <p:cNvSpPr/>
          <p:nvPr/>
        </p:nvSpPr>
        <p:spPr bwMode="auto">
          <a:xfrm>
            <a:off x="0" y="6289919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pic>
        <p:nvPicPr>
          <p:cNvPr id="1929095597" name="Imagem 1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0" t="21161" r="0" b="20161"/>
          <a:stretch/>
        </p:blipFill>
        <p:spPr bwMode="auto">
          <a:xfrm>
            <a:off x="257040" y="145800"/>
            <a:ext cx="3781080" cy="617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471506" name="Imagem 15"/>
          <p:cNvPicPr>
            <a:picLocks noChangeAspect="1"/>
          </p:cNvPicPr>
          <p:nvPr/>
        </p:nvPicPr>
        <p:blipFill>
          <a:blip r:embed="rId4">
            <a:lum/>
            <a:alphaModFix/>
          </a:blip>
          <a:stretch/>
        </p:blipFill>
        <p:spPr bwMode="auto">
          <a:xfrm>
            <a:off x="8373385" y="247615"/>
            <a:ext cx="1761839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686991944" name="Retângulo 9"/>
          <p:cNvSpPr/>
          <p:nvPr/>
        </p:nvSpPr>
        <p:spPr bwMode="auto">
          <a:xfrm>
            <a:off x="818210" y="4572875"/>
            <a:ext cx="10564694" cy="457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>
                <a:latin typeface="Abadi Extra Light"/>
              </a:rPr>
              <a:t>André Neto, Nuno Gonçalves</a:t>
            </a:r>
            <a:endParaRPr/>
          </a:p>
        </p:txBody>
      </p:sp>
      <p:sp>
        <p:nvSpPr>
          <p:cNvPr id="1521796214" name="CaixaDeTexto 12"/>
          <p:cNvSpPr/>
          <p:nvPr/>
        </p:nvSpPr>
        <p:spPr bwMode="auto">
          <a:xfrm flipH="0" flipV="0">
            <a:off x="6981986" y="6391438"/>
            <a:ext cx="5081664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032379572" name="Retângulo 10"/>
          <p:cNvSpPr/>
          <p:nvPr/>
        </p:nvSpPr>
        <p:spPr bwMode="auto">
          <a:xfrm flipH="0" flipV="0">
            <a:off x="0" y="925821"/>
            <a:ext cx="8127999" cy="23694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pic>
        <p:nvPicPr>
          <p:cNvPr id="1863111292" name="Imagem 17" descr="Uma imagem com texto, Tipo de letra, símbolo, tipografia&#10;&#10;Descrição gerada automaticamente"/>
          <p:cNvPicPr>
            <a:picLocks noChangeAspect="1"/>
          </p:cNvPicPr>
          <p:nvPr/>
        </p:nvPicPr>
        <p:blipFill>
          <a:blip r:embed="rId5"/>
          <a:srcRect l="17576" t="8554" r="22424" b="17721"/>
          <a:stretch/>
        </p:blipFill>
        <p:spPr bwMode="auto">
          <a:xfrm>
            <a:off x="10450566" y="244146"/>
            <a:ext cx="808561" cy="558852"/>
          </a:xfrm>
          <a:prstGeom prst="rect">
            <a:avLst/>
          </a:prstGeom>
        </p:spPr>
      </p:pic>
      <p:sp>
        <p:nvSpPr>
          <p:cNvPr id="486505031" name="Retângulo 10"/>
          <p:cNvSpPr/>
          <p:nvPr/>
        </p:nvSpPr>
        <p:spPr bwMode="auto">
          <a:xfrm flipH="0" flipV="0">
            <a:off x="8127999" y="923007"/>
            <a:ext cx="4063999" cy="2397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3D3D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230870003" name="Retângulo 10"/>
          <p:cNvSpPr/>
          <p:nvPr/>
        </p:nvSpPr>
        <p:spPr bwMode="auto">
          <a:xfrm>
            <a:off x="5658726" y="928634"/>
            <a:ext cx="4170219" cy="23413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E1616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540638052" name="Retângulo 5"/>
          <p:cNvSpPr/>
          <p:nvPr/>
        </p:nvSpPr>
        <p:spPr bwMode="auto">
          <a:xfrm>
            <a:off x="818211" y="5012110"/>
            <a:ext cx="10574054" cy="396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>
                <a:latin typeface="Abadi Extra Light"/>
              </a:rPr>
              <a:t>andre.neto@isr.uc.pt</a:t>
            </a:r>
            <a:r>
              <a:rPr lang="en-US" sz="2000">
                <a:latin typeface="Abadi Extra Light"/>
              </a:rPr>
              <a:t>, </a:t>
            </a:r>
            <a:r>
              <a:rPr lang="en-US" sz="2000">
                <a:latin typeface="Abadi Extra Light"/>
              </a:rPr>
              <a:t>nungon@deec.uc.pt</a:t>
            </a:r>
            <a:endParaRPr/>
          </a:p>
        </p:txBody>
      </p:sp>
      <p:pic>
        <p:nvPicPr>
          <p:cNvPr id="11860958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269040" y="94010"/>
            <a:ext cx="780671" cy="720619"/>
          </a:xfrm>
          <a:prstGeom prst="rect">
            <a:avLst/>
          </a:prstGeom>
        </p:spPr>
      </p:pic>
      <p:sp>
        <p:nvSpPr>
          <p:cNvPr id="2004531039" name="CaixaDeTexto 12"/>
          <p:cNvSpPr/>
          <p:nvPr/>
        </p:nvSpPr>
        <p:spPr bwMode="auto">
          <a:xfrm flipH="0" flipV="0">
            <a:off x="9982198" y="6391437"/>
            <a:ext cx="1070487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1171621535" name="CaixaDeTexto 11"/>
          <p:cNvSpPr/>
          <p:nvPr/>
        </p:nvSpPr>
        <p:spPr bwMode="auto">
          <a:xfrm flipH="0" flipV="0">
            <a:off x="632444" y="6398883"/>
            <a:ext cx="1791447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6568949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51"/>
            <a:ext cx="1761839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041503" name="Retângulo 3"/>
          <p:cNvSpPr/>
          <p:nvPr/>
        </p:nvSpPr>
        <p:spPr bwMode="auto">
          <a:xfrm>
            <a:off x="0" y="6289919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774892885" name="CaixaDeTexto 5"/>
          <p:cNvSpPr/>
          <p:nvPr/>
        </p:nvSpPr>
        <p:spPr bwMode="auto">
          <a:xfrm>
            <a:off x="632445" y="404351"/>
            <a:ext cx="8263679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Why Face Image Quality Assessment Matters</a:t>
            </a:r>
            <a:endParaRPr lang="en-US" sz="2800" b="1" i="0" u="none" strike="noStrike" spc="0">
              <a:ln>
                <a:noFill/>
              </a:ln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212906280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2" y="6356349"/>
            <a:ext cx="300102" cy="365124"/>
          </a:xfrm>
        </p:spPr>
        <p:txBody>
          <a:bodyPr/>
          <a:lstStyle/>
          <a:p>
            <a:pPr lvl="0">
              <a:defRPr/>
            </a:pPr>
            <a:fld id="{77343209-AF99-0E48-9352-5E9091C5B73B}" type="slidenum">
              <a:rPr lang="en-US" sz="1600">
                <a:solidFill>
                  <a:schemeClr val="bg1"/>
                </a:solidFill>
                <a:latin typeface="+mj-lt"/>
              </a:rPr>
              <a:t>2</a:t>
            </a:fld>
            <a:endParaRPr lang="en-US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88590637" name="CaixaDeTexto 11"/>
          <p:cNvSpPr/>
          <p:nvPr/>
        </p:nvSpPr>
        <p:spPr bwMode="auto">
          <a:xfrm flipH="0" flipV="0">
            <a:off x="632445" y="6398884"/>
            <a:ext cx="1791088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418521640" name="CaixaDeTexto 12"/>
          <p:cNvSpPr/>
          <p:nvPr/>
        </p:nvSpPr>
        <p:spPr bwMode="auto">
          <a:xfrm flipH="0" flipV="0">
            <a:off x="9982199" y="6391438"/>
            <a:ext cx="1070129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1465069616" name=""/>
          <p:cNvSpPr txBox="1"/>
          <p:nvPr/>
        </p:nvSpPr>
        <p:spPr bwMode="auto">
          <a:xfrm rot="0" flipH="0" flipV="0">
            <a:off x="5206128" y="1414887"/>
            <a:ext cx="6469069" cy="438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Face Image Quality Assessment (FIQA)</a:t>
            </a:r>
            <a:r>
              <a:rPr lang="en-US" sz="2200" b="1"/>
              <a:t>:</a:t>
            </a:r>
            <a:endParaRPr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Estimates the overall quality of a facial image</a:t>
            </a:r>
            <a:endParaRPr lang="en-US" sz="2200"/>
          </a:p>
          <a:p>
            <a:pPr>
              <a:defRPr/>
            </a:pPr>
            <a:endParaRPr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Used to filter low-quality inputs or weight matching scores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en-US" sz="2200" b="1"/>
              <a:t>Types of FIQA:</a:t>
            </a:r>
            <a:endParaRPr sz="2200" b="1"/>
          </a:p>
          <a:p>
            <a:pPr marL="283879" indent="-283879">
              <a:buFont typeface="Wingdings"/>
              <a:buChar char="w"/>
              <a:defRPr/>
            </a:pPr>
            <a:r>
              <a:rPr lang="en-US" sz="2200" b="0"/>
              <a:t>FR-FIQA: gives reliable scores, but impractical in most real life scenarios</a:t>
            </a:r>
            <a:endParaRPr lang="en-US" sz="2200" b="0"/>
          </a:p>
          <a:p>
            <a:pPr>
              <a:defRPr/>
            </a:pPr>
            <a:endParaRPr sz="2200" b="0"/>
          </a:p>
          <a:p>
            <a:pPr marL="283879" indent="-283879">
              <a:buFont typeface="Wingdings"/>
              <a:buChar char="w"/>
              <a:defRPr/>
            </a:pPr>
            <a:r>
              <a:rPr lang="en-US" sz="2200" b="0"/>
              <a:t>NR-FIQA: </a:t>
            </a:r>
            <a:r>
              <a:rPr lang="en-US" sz="2200" b="0"/>
              <a:t>is</a:t>
            </a:r>
            <a:r>
              <a:rPr lang="en-US" sz="2200" b="0"/>
              <a:t> often misaligned with human subjective perception, collected as Mean Opinion Score (MOS)</a:t>
            </a:r>
            <a:endParaRPr sz="2000" b="0"/>
          </a:p>
          <a:p>
            <a:pPr>
              <a:defRPr/>
            </a:pPr>
            <a:endParaRPr lang="en-US"/>
          </a:p>
        </p:txBody>
      </p:sp>
      <p:pic>
        <p:nvPicPr>
          <p:cNvPr id="87831612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78492" y="1471807"/>
            <a:ext cx="1970179" cy="1970179"/>
          </a:xfrm>
          <a:prstGeom prst="rect">
            <a:avLst/>
          </a:prstGeom>
        </p:spPr>
      </p:pic>
      <p:sp>
        <p:nvSpPr>
          <p:cNvPr id="1402829036" name=""/>
          <p:cNvSpPr txBox="1"/>
          <p:nvPr/>
        </p:nvSpPr>
        <p:spPr bwMode="auto">
          <a:xfrm rot="0" flipH="0" flipV="0">
            <a:off x="1156307" y="3913545"/>
            <a:ext cx="1097642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/>
              <a:t>FR-FIQA</a:t>
            </a:r>
            <a:endParaRPr sz="2200"/>
          </a:p>
        </p:txBody>
      </p:sp>
      <p:sp>
        <p:nvSpPr>
          <p:cNvPr id="1346807168" name=""/>
          <p:cNvSpPr txBox="1"/>
          <p:nvPr/>
        </p:nvSpPr>
        <p:spPr bwMode="auto">
          <a:xfrm rot="0" flipH="0" flipV="0">
            <a:off x="3312125" y="3913113"/>
            <a:ext cx="11496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NR-FIQA</a:t>
            </a:r>
            <a:endParaRPr sz="2200"/>
          </a:p>
        </p:txBody>
      </p:sp>
      <p:sp>
        <p:nvSpPr>
          <p:cNvPr id="1120772647" name=""/>
          <p:cNvSpPr txBox="1"/>
          <p:nvPr/>
        </p:nvSpPr>
        <p:spPr bwMode="auto">
          <a:xfrm rot="0" flipH="0" flipV="0">
            <a:off x="911287" y="4781337"/>
            <a:ext cx="1587683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Score = 0.34</a:t>
            </a:r>
            <a:endParaRPr sz="2200" b="1"/>
          </a:p>
        </p:txBody>
      </p:sp>
      <p:sp>
        <p:nvSpPr>
          <p:cNvPr id="890808682" name=""/>
          <p:cNvSpPr txBox="1"/>
          <p:nvPr/>
        </p:nvSpPr>
        <p:spPr bwMode="auto">
          <a:xfrm rot="0" flipH="0" flipV="0">
            <a:off x="3093213" y="4754223"/>
            <a:ext cx="1587683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Score = 0.87</a:t>
            </a:r>
            <a:endParaRPr sz="2200" b="1"/>
          </a:p>
        </p:txBody>
      </p:sp>
      <p:sp>
        <p:nvSpPr>
          <p:cNvPr id="556919634" name=""/>
          <p:cNvSpPr txBox="1"/>
          <p:nvPr/>
        </p:nvSpPr>
        <p:spPr bwMode="auto">
          <a:xfrm rot="0" flipH="0" flipV="0">
            <a:off x="1156307" y="5270788"/>
            <a:ext cx="323883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MOS (ground truth) = 0.40</a:t>
            </a:r>
            <a:endParaRPr sz="2200" b="1"/>
          </a:p>
        </p:txBody>
      </p:sp>
      <p:sp>
        <p:nvSpPr>
          <p:cNvPr id="1687977626" name=""/>
          <p:cNvSpPr txBox="1"/>
          <p:nvPr/>
        </p:nvSpPr>
        <p:spPr bwMode="auto">
          <a:xfrm rot="0" flipH="0" flipV="0">
            <a:off x="4558546" y="4769643"/>
            <a:ext cx="41183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/>
              <a:t>❌</a:t>
            </a:r>
            <a:endParaRPr sz="2200"/>
          </a:p>
        </p:txBody>
      </p:sp>
      <p:sp>
        <p:nvSpPr>
          <p:cNvPr id="1241030475" name=""/>
          <p:cNvSpPr txBox="1"/>
          <p:nvPr/>
        </p:nvSpPr>
        <p:spPr bwMode="auto">
          <a:xfrm rot="0" flipH="0" flipV="0">
            <a:off x="502594" y="4769643"/>
            <a:ext cx="49711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/>
              <a:t>✔️</a:t>
            </a:r>
            <a:endParaRPr sz="2200"/>
          </a:p>
        </p:txBody>
      </p:sp>
      <p:pic>
        <p:nvPicPr>
          <p:cNvPr id="144313713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890065" y="1471806"/>
            <a:ext cx="1970181" cy="1970181"/>
          </a:xfrm>
          <a:prstGeom prst="rect">
            <a:avLst/>
          </a:prstGeom>
        </p:spPr>
      </p:pic>
      <p:cxnSp>
        <p:nvCxnSpPr>
          <p:cNvPr id="1204546450" name="Line 1892143846"/>
          <p:cNvCxnSpPr>
            <a:stCxn id="1443137131" idx="2"/>
            <a:endCxn id="1346807168" idx="0"/>
          </p:cNvCxnSpPr>
          <p:nvPr/>
        </p:nvCxnSpPr>
        <p:spPr bwMode="auto">
          <a:xfrm rot="5399978" flipH="0" flipV="1">
            <a:off x="3645393" y="3677550"/>
            <a:ext cx="471125" cy="0"/>
          </a:xfrm>
          <a:prstGeom prst="line">
            <a:avLst/>
          </a:prstGeom>
          <a:ln w="19049" cap="flat" cmpd="sng" algn="ctr">
            <a:solidFill>
              <a:srgbClr val="7D0000"/>
            </a:solidFill>
            <a:prstDash val="solid"/>
            <a:miter lim="800000"/>
            <a:headEnd type="oval"/>
            <a:tailEnd type="oval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473384" name="Line 1892143846"/>
          <p:cNvCxnSpPr/>
          <p:nvPr/>
        </p:nvCxnSpPr>
        <p:spPr bwMode="auto">
          <a:xfrm rot="5399978" flipH="0" flipV="0">
            <a:off x="2423961" y="2993779"/>
            <a:ext cx="470530" cy="1368136"/>
          </a:xfrm>
          <a:prstGeom prst="line">
            <a:avLst/>
          </a:prstGeom>
          <a:ln w="19049" cap="flat" cmpd="sng" algn="ctr">
            <a:solidFill>
              <a:srgbClr val="7D0000"/>
            </a:solidFill>
            <a:prstDash val="solid"/>
            <a:miter lim="800000"/>
            <a:headEnd type="oval"/>
            <a:tailEnd type="oval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9168666" name="Line 1892143846"/>
          <p:cNvCxnSpPr>
            <a:stCxn id="878316121" idx="2"/>
            <a:endCxn id="1402829036" idx="0"/>
          </p:cNvCxnSpPr>
          <p:nvPr/>
        </p:nvCxnSpPr>
        <p:spPr bwMode="auto">
          <a:xfrm rot="5399978" flipH="0" flipV="0">
            <a:off x="1427804" y="3677766"/>
            <a:ext cx="471557" cy="0"/>
          </a:xfrm>
          <a:prstGeom prst="line">
            <a:avLst/>
          </a:prstGeom>
          <a:ln w="19049" cap="flat" cmpd="sng" algn="ctr">
            <a:solidFill>
              <a:srgbClr val="7D0000"/>
            </a:solidFill>
            <a:prstDash val="solid"/>
            <a:miter lim="800000"/>
            <a:headEnd type="oval"/>
            <a:tailEnd type="oval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946334" name="Line 1892143846"/>
          <p:cNvCxnSpPr>
            <a:stCxn id="1346807168" idx="2"/>
            <a:endCxn id="890808682" idx="0"/>
          </p:cNvCxnSpPr>
          <p:nvPr/>
        </p:nvCxnSpPr>
        <p:spPr bwMode="auto">
          <a:xfrm rot="5399978" flipH="0" flipV="1">
            <a:off x="3679980" y="4547208"/>
            <a:ext cx="414030" cy="0"/>
          </a:xfrm>
          <a:prstGeom prst="line">
            <a:avLst/>
          </a:prstGeom>
          <a:ln w="19049" cap="flat" cmpd="sng" algn="ctr">
            <a:solidFill>
              <a:srgbClr val="7D0000"/>
            </a:solidFill>
            <a:prstDash val="solid"/>
            <a:miter lim="800000"/>
            <a:headEnd type="oval"/>
            <a:tailEnd type="triangle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351678" name="Line 1892143846"/>
          <p:cNvCxnSpPr/>
          <p:nvPr/>
        </p:nvCxnSpPr>
        <p:spPr bwMode="auto">
          <a:xfrm rot="5399978" flipH="0" flipV="0">
            <a:off x="1443226" y="4560981"/>
            <a:ext cx="440712" cy="0"/>
          </a:xfrm>
          <a:prstGeom prst="line">
            <a:avLst/>
          </a:prstGeom>
          <a:ln w="19049" cap="flat" cmpd="sng" algn="ctr">
            <a:solidFill>
              <a:srgbClr val="7D0000"/>
            </a:solidFill>
            <a:prstDash val="solid"/>
            <a:miter lim="800000"/>
            <a:headEnd type="oval"/>
            <a:tailEnd type="triangle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505301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50"/>
            <a:ext cx="1761838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636772" name="Retângulo 3"/>
          <p:cNvSpPr/>
          <p:nvPr/>
        </p:nvSpPr>
        <p:spPr bwMode="auto">
          <a:xfrm>
            <a:off x="0" y="6289918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177769592" name="CaixaDeTexto 5"/>
          <p:cNvSpPr/>
          <p:nvPr/>
        </p:nvSpPr>
        <p:spPr bwMode="auto">
          <a:xfrm>
            <a:off x="632444" y="404349"/>
            <a:ext cx="8279878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Current NR-FIQA Limitations</a:t>
            </a:r>
            <a:endParaRPr lang="en-US" sz="2800" b="1" i="0" u="none" strike="noStrike" spc="0">
              <a:ln>
                <a:noFill/>
              </a:ln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795006956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1" cy="365124"/>
          </a:xfrm>
        </p:spPr>
        <p:txBody>
          <a:bodyPr/>
          <a:lstStyle/>
          <a:p>
            <a:pPr lvl="0">
              <a:defRPr/>
            </a:pPr>
            <a:fld id="{2BB8794B-F9FA-92B3-231E-F2DC82EE76DB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705318314" name="CaixaDeTexto 11"/>
          <p:cNvSpPr/>
          <p:nvPr/>
        </p:nvSpPr>
        <p:spPr bwMode="auto">
          <a:xfrm flipH="0" flipV="0">
            <a:off x="632445" y="6398883"/>
            <a:ext cx="1791087" cy="36467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285862245" name="CaixaDeTexto 12"/>
          <p:cNvSpPr/>
          <p:nvPr/>
        </p:nvSpPr>
        <p:spPr bwMode="auto">
          <a:xfrm flipH="0" flipV="0">
            <a:off x="9982199" y="6391438"/>
            <a:ext cx="1070128" cy="36467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1601906156" name=""/>
          <p:cNvSpPr txBox="1"/>
          <p:nvPr/>
        </p:nvSpPr>
        <p:spPr bwMode="auto">
          <a:xfrm rot="0" flipH="0" flipV="0">
            <a:off x="678416" y="1414887"/>
            <a:ext cx="6852096" cy="2774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Human ratings are biased (ethnicity, gender, age).</a:t>
            </a:r>
            <a:endParaRPr sz="2200"/>
          </a:p>
          <a:p>
            <a:pPr marL="283879" indent="-283879">
              <a:buFont typeface="Wingdings"/>
              <a:buChar char="w"/>
              <a:defRPr/>
            </a:pPr>
            <a:endParaRPr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By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International Telecommunication Union - Radiocommunication Sector (ITU-R)</a:t>
            </a:r>
            <a:r>
              <a:rPr lang="en-US" sz="2200"/>
              <a:t> Recommendations</a:t>
            </a:r>
            <a:r>
              <a:rPr lang="en-US" sz="2200"/>
              <a:t> standards, each image needs ~30 evaluations.</a:t>
            </a:r>
            <a:endParaRPr lang="en-US" sz="2200"/>
          </a:p>
          <a:p>
            <a:pPr marL="283879" indent="-283879">
              <a:buFont typeface="Wingdings"/>
              <a:buChar char="w"/>
              <a:defRPr/>
            </a:pPr>
            <a:endParaRPr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Gathering sufficient, reliable MOS is time-consuming and costly.</a:t>
            </a:r>
            <a:endParaRPr lang="en-US" sz="2200"/>
          </a:p>
        </p:txBody>
      </p:sp>
      <p:pic>
        <p:nvPicPr>
          <p:cNvPr id="8356330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273098" y="1330221"/>
            <a:ext cx="3046458" cy="4308247"/>
          </a:xfrm>
          <a:prstGeom prst="rect">
            <a:avLst/>
          </a:prstGeom>
        </p:spPr>
      </p:pic>
      <p:sp>
        <p:nvSpPr>
          <p:cNvPr id="205485878" name=""/>
          <p:cNvSpPr txBox="1"/>
          <p:nvPr/>
        </p:nvSpPr>
        <p:spPr bwMode="auto">
          <a:xfrm rot="0" flipH="0" flipV="0">
            <a:off x="678416" y="4653279"/>
            <a:ext cx="6852456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if we could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replicate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from a small annotated subset?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7678165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961743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842813738" name="CaixaDeTexto 5"/>
          <p:cNvSpPr/>
          <p:nvPr/>
        </p:nvSpPr>
        <p:spPr bwMode="auto">
          <a:xfrm>
            <a:off x="632444" y="404349"/>
            <a:ext cx="829715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Face Research Lab London (FRLL) Set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629608432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0" cy="365123"/>
          </a:xfrm>
        </p:spPr>
        <p:txBody>
          <a:bodyPr/>
          <a:lstStyle/>
          <a:p>
            <a:pPr lvl="0">
              <a:defRPr/>
            </a:pPr>
            <a:fld id="{1CD76EEB-49E8-280F-376C-A0EB4D1027E3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542137568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714977366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pic>
        <p:nvPicPr>
          <p:cNvPr id="57686431" name=""/>
          <p:cNvPicPr>
            <a:picLocks noChangeAspect="1"/>
          </p:cNvPicPr>
          <p:nvPr/>
        </p:nvPicPr>
        <p:blipFill>
          <a:blip r:embed="rId4"/>
          <a:srcRect l="4328" t="12008" r="4368" b="12169"/>
          <a:stretch/>
        </p:blipFill>
        <p:spPr bwMode="auto">
          <a:xfrm flipH="0" flipV="0">
            <a:off x="632444" y="1143000"/>
            <a:ext cx="10823649" cy="4822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4764620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50"/>
            <a:ext cx="1761838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139238" name="Retângulo 3"/>
          <p:cNvSpPr/>
          <p:nvPr/>
        </p:nvSpPr>
        <p:spPr bwMode="auto">
          <a:xfrm>
            <a:off x="0" y="6289918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743566351" name="CaixaDeTexto 5"/>
          <p:cNvSpPr/>
          <p:nvPr/>
        </p:nvSpPr>
        <p:spPr bwMode="auto">
          <a:xfrm>
            <a:off x="632444" y="404349"/>
            <a:ext cx="8301478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Printer-proof Steganographic Distortions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492137385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1" cy="365124"/>
          </a:xfrm>
        </p:spPr>
        <p:txBody>
          <a:bodyPr/>
          <a:lstStyle/>
          <a:p>
            <a:pPr lvl="0">
              <a:defRPr/>
            </a:pPr>
            <a:fld id="{BB10A661-A484-331F-21C4-02ADE5C23DAE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748800069" name="CaixaDeTexto 11"/>
          <p:cNvSpPr/>
          <p:nvPr/>
        </p:nvSpPr>
        <p:spPr bwMode="auto">
          <a:xfrm flipH="0" flipV="0">
            <a:off x="632445" y="6398883"/>
            <a:ext cx="1791087" cy="36467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807768639" name="CaixaDeTexto 12"/>
          <p:cNvSpPr/>
          <p:nvPr/>
        </p:nvSpPr>
        <p:spPr bwMode="auto">
          <a:xfrm flipH="0" flipV="0">
            <a:off x="9982199" y="6391438"/>
            <a:ext cx="1070128" cy="36467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549479719" name=""/>
          <p:cNvSpPr txBox="1"/>
          <p:nvPr/>
        </p:nvSpPr>
        <p:spPr bwMode="auto">
          <a:xfrm rot="0" flipH="0" flipV="0">
            <a:off x="698497" y="1430946"/>
            <a:ext cx="10814231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 i="1"/>
              <a:t>steganography</a:t>
            </a:r>
            <a:endParaRPr lang="en-US" sz="2200"/>
          </a:p>
          <a:p>
            <a:pPr algn="ctr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/ˌstɛɡəˈnɒɡrəfi/ · noun · [uncountable]</a:t>
            </a:r>
            <a:endParaRPr lang="en-US" sz="2200"/>
          </a:p>
        </p:txBody>
      </p:sp>
      <p:sp>
        <p:nvSpPr>
          <p:cNvPr id="1133890660" name=""/>
          <p:cNvSpPr txBox="1"/>
          <p:nvPr/>
        </p:nvSpPr>
        <p:spPr bwMode="auto">
          <a:xfrm rot="0" flipH="0" flipV="0">
            <a:off x="684264" y="2440596"/>
            <a:ext cx="1082359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 b="0" i="1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practice of writing hidden messages in ordinary text, pictures, etc.</a:t>
            </a:r>
            <a:endParaRPr lang="en-US" sz="2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103715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8540" y="3243718"/>
            <a:ext cx="1957189" cy="1957189"/>
          </a:xfrm>
          <a:prstGeom prst="rect">
            <a:avLst/>
          </a:prstGeom>
        </p:spPr>
      </p:pic>
      <p:pic>
        <p:nvPicPr>
          <p:cNvPr id="150251366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86965" y="3243718"/>
            <a:ext cx="1957188" cy="1957188"/>
          </a:xfrm>
          <a:prstGeom prst="rect">
            <a:avLst/>
          </a:prstGeom>
        </p:spPr>
      </p:pic>
      <p:sp>
        <p:nvSpPr>
          <p:cNvPr id="2074632932" name=""/>
          <p:cNvSpPr txBox="1"/>
          <p:nvPr/>
        </p:nvSpPr>
        <p:spPr bwMode="auto">
          <a:xfrm rot="0" flipH="0" flipV="0">
            <a:off x="1004906" y="5333999"/>
            <a:ext cx="1338977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Reference</a:t>
            </a:r>
            <a:endParaRPr sz="2000"/>
          </a:p>
        </p:txBody>
      </p:sp>
      <p:pic>
        <p:nvPicPr>
          <p:cNvPr id="13661635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125758" y="3243718"/>
            <a:ext cx="1957189" cy="1957189"/>
          </a:xfrm>
          <a:prstGeom prst="rect">
            <a:avLst/>
          </a:prstGeom>
        </p:spPr>
      </p:pic>
      <p:pic>
        <p:nvPicPr>
          <p:cNvPr id="1638181518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7313208" y="3243718"/>
            <a:ext cx="1957188" cy="1957188"/>
          </a:xfrm>
          <a:prstGeom prst="rect">
            <a:avLst/>
          </a:prstGeom>
        </p:spPr>
      </p:pic>
      <p:pic>
        <p:nvPicPr>
          <p:cNvPr id="1225453304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9507377" y="3243718"/>
            <a:ext cx="1957188" cy="1957188"/>
          </a:xfrm>
          <a:prstGeom prst="rect">
            <a:avLst/>
          </a:prstGeom>
        </p:spPr>
      </p:pic>
      <p:sp>
        <p:nvSpPr>
          <p:cNvPr id="619941594" name=""/>
          <p:cNvSpPr txBox="1"/>
          <p:nvPr/>
        </p:nvSpPr>
        <p:spPr bwMode="auto">
          <a:xfrm rot="0" flipH="0" flipV="0">
            <a:off x="3116658" y="5322305"/>
            <a:ext cx="1535702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StegaStamp</a:t>
            </a:r>
            <a:endParaRPr sz="2000"/>
          </a:p>
        </p:txBody>
      </p:sp>
      <p:sp>
        <p:nvSpPr>
          <p:cNvPr id="480266372" name=""/>
          <p:cNvSpPr txBox="1"/>
          <p:nvPr/>
        </p:nvSpPr>
        <p:spPr bwMode="auto">
          <a:xfrm rot="0" flipH="0" flipV="0">
            <a:off x="5467147" y="5333999"/>
            <a:ext cx="128509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CodeFace</a:t>
            </a:r>
            <a:endParaRPr sz="2200"/>
          </a:p>
        </p:txBody>
      </p:sp>
      <p:sp>
        <p:nvSpPr>
          <p:cNvPr id="866832547" name=""/>
          <p:cNvSpPr txBox="1"/>
          <p:nvPr/>
        </p:nvSpPr>
        <p:spPr bwMode="auto">
          <a:xfrm rot="0" flipH="0" flipV="0">
            <a:off x="7598185" y="5333999"/>
            <a:ext cx="1387954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RiemStega</a:t>
            </a:r>
            <a:endParaRPr sz="2000"/>
          </a:p>
        </p:txBody>
      </p:sp>
      <p:sp>
        <p:nvSpPr>
          <p:cNvPr id="1367753321" name=""/>
          <p:cNvSpPr txBox="1"/>
          <p:nvPr/>
        </p:nvSpPr>
        <p:spPr bwMode="auto">
          <a:xfrm rot="0" flipH="0" flipV="0">
            <a:off x="9797681" y="5333999"/>
            <a:ext cx="1380180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/>
              <a:t>StampOne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139703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559449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544392789" name="CaixaDeTexto 5"/>
          <p:cNvSpPr/>
          <p:nvPr/>
        </p:nvSpPr>
        <p:spPr bwMode="auto">
          <a:xfrm>
            <a:off x="632444" y="404349"/>
            <a:ext cx="831515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Dataset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809810084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0" cy="365123"/>
          </a:xfrm>
        </p:spPr>
        <p:txBody>
          <a:bodyPr/>
          <a:lstStyle/>
          <a:p>
            <a:pPr lvl="0">
              <a:defRPr/>
            </a:pPr>
            <a:fld id="{8228BD69-BBB8-D99D-84F1-06ABDDFF3C85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242427470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859715425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pic>
        <p:nvPicPr>
          <p:cNvPr id="10825696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6253549" y="1248378"/>
            <a:ext cx="1304033" cy="3906836"/>
          </a:xfrm>
          <a:prstGeom prst="rect">
            <a:avLst/>
          </a:prstGeom>
        </p:spPr>
      </p:pic>
      <p:pic>
        <p:nvPicPr>
          <p:cNvPr id="43768904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06528" y="1253897"/>
            <a:ext cx="5204094" cy="3901317"/>
          </a:xfrm>
          <a:prstGeom prst="rect">
            <a:avLst/>
          </a:prstGeom>
        </p:spPr>
      </p:pic>
      <p:sp>
        <p:nvSpPr>
          <p:cNvPr id="1499534472" name=""/>
          <p:cNvSpPr txBox="1"/>
          <p:nvPr/>
        </p:nvSpPr>
        <p:spPr bwMode="auto">
          <a:xfrm rot="0" flipH="0" flipV="0">
            <a:off x="8180919" y="1380897"/>
            <a:ext cx="3385334" cy="3779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MOS set</a:t>
            </a:r>
            <a:endParaRPr lang="en-US" sz="2200" b="1"/>
          </a:p>
          <a:p>
            <a:pPr marL="327936" indent="-327936">
              <a:buFont typeface="Wingdings"/>
              <a:buChar char="w"/>
              <a:defRPr/>
            </a:pPr>
            <a:r>
              <a:rPr lang="en-US" sz="2200"/>
              <a:t>15 identities</a:t>
            </a:r>
            <a:endParaRPr lang="en-US" sz="2200"/>
          </a:p>
          <a:p>
            <a:pPr marL="327936" indent="-327936">
              <a:buFont typeface="Wingdings"/>
              <a:buChar char="w"/>
              <a:defRPr/>
            </a:pPr>
            <a:r>
              <a:rPr lang="en-US" sz="2200"/>
              <a:t>540 images</a:t>
            </a:r>
            <a:endParaRPr lang="en-US" sz="2200"/>
          </a:p>
          <a:p>
            <a:pPr marL="785136" lvl="1" indent="-327936">
              <a:buFont typeface="Arial"/>
              <a:buChar char="–"/>
              <a:defRPr/>
            </a:pPr>
            <a:r>
              <a:rPr lang="en-US" sz="2200" b="1"/>
              <a:t>MOS train set</a:t>
            </a:r>
            <a:endParaRPr lang="en-US" sz="2200" b="1"/>
          </a:p>
          <a:p>
            <a:pPr marL="1242336" lvl="2" indent="-327936">
              <a:buFont typeface="Wingdings"/>
              <a:buChar char="§"/>
              <a:defRPr/>
            </a:pPr>
            <a:r>
              <a:rPr lang="en-US" sz="2200"/>
              <a:t>3 identities</a:t>
            </a:r>
            <a:endParaRPr lang="en-US" sz="2200"/>
          </a:p>
          <a:p>
            <a:pPr marL="785136" lvl="1" indent="-327936">
              <a:buFont typeface="Arial"/>
              <a:buChar char="–"/>
              <a:defRPr/>
            </a:pPr>
            <a:r>
              <a:rPr lang="en-US" sz="2200" b="1"/>
              <a:t>MOS test set</a:t>
            </a:r>
            <a:endParaRPr lang="en-US" sz="2200" b="1"/>
          </a:p>
          <a:p>
            <a:pPr marL="1185186" lvl="2" indent="-327936">
              <a:buFont typeface="Wingdings"/>
              <a:buChar char="§"/>
              <a:defRPr/>
            </a:pPr>
            <a:r>
              <a:rPr lang="en-US" sz="2200" b="0"/>
              <a:t>12 identities</a:t>
            </a:r>
            <a:endParaRPr lang="en-US" sz="2200" b="1"/>
          </a:p>
          <a:p>
            <a:pPr>
              <a:defRPr/>
            </a:pPr>
            <a:endParaRPr lang="en-US" sz="2200"/>
          </a:p>
          <a:p>
            <a:pPr>
              <a:defRPr/>
            </a:pPr>
            <a:r>
              <a:rPr lang="en-US" sz="2200" b="1"/>
              <a:t>Pseudo-MOS set</a:t>
            </a:r>
            <a:endParaRPr lang="en-US" sz="2200"/>
          </a:p>
          <a:p>
            <a:pPr marL="327936" indent="-327936">
              <a:buFont typeface="Wingdings"/>
              <a:buChar char="w"/>
              <a:defRPr/>
            </a:pPr>
            <a:r>
              <a:rPr lang="en-US" sz="2200"/>
              <a:t>87 identities</a:t>
            </a:r>
            <a:endParaRPr lang="en-US" sz="2200"/>
          </a:p>
          <a:p>
            <a:pPr marL="327936" indent="-327936">
              <a:buFont typeface="Wingdings"/>
              <a:buChar char="w"/>
              <a:defRPr/>
            </a:pPr>
            <a:r>
              <a:rPr lang="en-US" sz="2200"/>
              <a:t>3.132 images</a:t>
            </a:r>
            <a:endParaRPr lang="en-US" sz="2200"/>
          </a:p>
        </p:txBody>
      </p:sp>
      <p:sp>
        <p:nvSpPr>
          <p:cNvPr id="1032313211" name=""/>
          <p:cNvSpPr txBox="1"/>
          <p:nvPr/>
        </p:nvSpPr>
        <p:spPr bwMode="auto">
          <a:xfrm rot="0" flipH="0" flipV="0">
            <a:off x="2580153" y="5302249"/>
            <a:ext cx="1739793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/>
              <a:t>MOS train set</a:t>
            </a:r>
            <a:endParaRPr sz="2200" b="0"/>
          </a:p>
        </p:txBody>
      </p:sp>
      <p:sp>
        <p:nvSpPr>
          <p:cNvPr id="1224975191" name=""/>
          <p:cNvSpPr txBox="1"/>
          <p:nvPr/>
        </p:nvSpPr>
        <p:spPr bwMode="auto">
          <a:xfrm rot="0" flipH="0" flipV="0">
            <a:off x="6035669" y="5302249"/>
            <a:ext cx="1639521" cy="427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/>
              <a:t>MOS test set</a:t>
            </a:r>
            <a:endParaRPr sz="22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4327666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8744905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420284483" name="CaixaDeTexto 5"/>
          <p:cNvSpPr/>
          <p:nvPr/>
        </p:nvSpPr>
        <p:spPr bwMode="auto">
          <a:xfrm>
            <a:off x="632444" y="404349"/>
            <a:ext cx="828851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Subjective Labeling Protocol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812671313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0" cy="365123"/>
          </a:xfrm>
        </p:spPr>
        <p:txBody>
          <a:bodyPr/>
          <a:lstStyle/>
          <a:p>
            <a:pPr lvl="0">
              <a:defRPr/>
            </a:pPr>
            <a:fld id="{68500FF9-A1EA-8CA4-7CAB-706C4939487C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843819543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64788684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1606468460" name=""/>
          <p:cNvSpPr txBox="1"/>
          <p:nvPr/>
        </p:nvSpPr>
        <p:spPr bwMode="auto">
          <a:xfrm rot="0" flipH="0" flipV="0">
            <a:off x="698497" y="1430946"/>
            <a:ext cx="6426608" cy="3718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Custom webapp built with Django for MOS collection</a:t>
            </a:r>
            <a:r>
              <a:rPr lang="en-US" sz="2200"/>
              <a:t>.</a:t>
            </a:r>
            <a:endParaRPr lang="en-US" sz="2200"/>
          </a:p>
          <a:p>
            <a:pPr>
              <a:defRPr/>
            </a:pPr>
            <a:endParaRPr lang="en-US"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Adopted ITU-R BT. 500-15 Single Stimulus protocol.</a:t>
            </a:r>
            <a:endParaRPr lang="en-US" sz="2200"/>
          </a:p>
          <a:p>
            <a:pPr>
              <a:defRPr/>
            </a:pPr>
            <a:endParaRPr lang="en-US"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Over 200 participants rated ~70 images each, resulting in over 14.000 ratings</a:t>
            </a:r>
            <a:endParaRPr lang="en-US" sz="2200"/>
          </a:p>
          <a:p>
            <a:pPr>
              <a:defRPr/>
            </a:pPr>
            <a:endParaRPr lang="en-US" sz="2200"/>
          </a:p>
          <a:p>
            <a:pPr marL="283879" indent="-283879">
              <a:buFont typeface="Wingdings"/>
              <a:buChar char="w"/>
              <a:defRPr/>
            </a:pPr>
            <a:r>
              <a:rPr lang="en-US" sz="2200"/>
              <a:t>Demographics collected: gender, age, ethnicity, others.</a:t>
            </a:r>
            <a:endParaRPr lang="en-US" sz="2200"/>
          </a:p>
          <a:p>
            <a:pPr marL="683929" lvl="1" indent="-283879">
              <a:buFont typeface="Wingdings"/>
              <a:buChar char="w"/>
              <a:defRPr/>
            </a:pPr>
            <a:endParaRPr lang="en-US"/>
          </a:p>
        </p:txBody>
      </p:sp>
      <p:pic>
        <p:nvPicPr>
          <p:cNvPr id="10595360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43703" y="1333499"/>
            <a:ext cx="4070105" cy="4455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3851732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766170283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986937839" name="CaixaDeTexto 5"/>
          <p:cNvSpPr/>
          <p:nvPr/>
        </p:nvSpPr>
        <p:spPr bwMode="auto">
          <a:xfrm>
            <a:off x="632444" y="404349"/>
            <a:ext cx="830183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Removing Bias from Human Scores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646567536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0" cy="365123"/>
          </a:xfrm>
        </p:spPr>
        <p:txBody>
          <a:bodyPr/>
          <a:lstStyle/>
          <a:p>
            <a:pPr lvl="0">
              <a:defRPr/>
            </a:pPr>
            <a:fld id="{19ACB7B2-19A6-560F-4E2D-71F670609670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942822141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003870772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graphicFrame>
        <p:nvGraphicFramePr>
          <p:cNvPr id="2075863400" name=""/>
          <p:cNvGraphicFramePr>
            <a:graphicFrameLocks xmlns:a="http://schemas.openxmlformats.org/drawingml/2006/main"/>
          </p:cNvGraphicFramePr>
          <p:nvPr/>
        </p:nvGraphicFramePr>
        <p:xfrm>
          <a:off x="1678853" y="2546349"/>
          <a:ext cx="8834052" cy="2577051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{E8034E78-7F5D-4C2E-B375-FC64B27BC917}</a:tableStyleId>
              </a:tblPr>
              <a:tblGrid>
                <a:gridCol w="3814902"/>
                <a:gridCol w="2074466"/>
                <a:gridCol w="2944684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Factor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p-value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p-value (residualized)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Observer gender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0.022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0.9930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Observer ethnicity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en-US" sz="1800" b="0" i="1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8.44 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 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 </m:t>
                                    </m:r>
                                  </m:e>
                                  <m:sup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-4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en-US" sz="1800" u="none" strike="noStrike" cap="none" spc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6885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Subject gender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en-US" sz="1800" b="0" i="1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1.60 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 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 </m:t>
                                    </m:r>
                                  </m:e>
                                  <m:sup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-3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0.9720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Subject ethnicity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en-US" sz="1800" b="0" i="1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7.36 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 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 </m:t>
                                    </m:r>
                                  </m:e>
                                  <m:sup>
                                    <m:r>
                                      <m:rPr>
                                        <m:sty m:val="i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-3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Observer gender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/>
                        <a:t> Subject gender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0.6417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0.6417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Observer 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ethnicity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Subject 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ethnicity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0.0582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0.0582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97878130" name=""/>
          <p:cNvSpPr txBox="1"/>
          <p:nvPr/>
        </p:nvSpPr>
        <p:spPr bwMode="auto">
          <a:xfrm rot="0" flipH="0" flipV="0">
            <a:off x="1678853" y="1901856"/>
            <a:ext cx="887977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b="1"/>
              <a:t>Table 1. </a:t>
            </a:r>
            <a:r>
              <a:rPr lang="en-US" b="0"/>
              <a:t>ANOVA results for observer and image attributes.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2149990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076475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234804072" name="CaixaDeTexto 5"/>
          <p:cNvSpPr/>
          <p:nvPr/>
        </p:nvSpPr>
        <p:spPr bwMode="auto">
          <a:xfrm>
            <a:off x="632444" y="404349"/>
            <a:ext cx="833027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Relation between MOS and 40 FR-IQA Metrics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420323557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00100" cy="365123"/>
          </a:xfrm>
        </p:spPr>
        <p:txBody>
          <a:bodyPr/>
          <a:lstStyle/>
          <a:p>
            <a:pPr lvl="0">
              <a:defRPr/>
            </a:pPr>
            <a:fld id="{127A3BD5-D0EA-1CFC-987C-29212F396DE0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882170715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248241240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pic>
        <p:nvPicPr>
          <p:cNvPr id="1859871528" name=""/>
          <p:cNvPicPr>
            <a:picLocks noChangeAspect="1"/>
          </p:cNvPicPr>
          <p:nvPr/>
        </p:nvPicPr>
        <p:blipFill>
          <a:blip r:embed="rId4"/>
          <a:srcRect l="0" t="17901" r="0" b="16049"/>
          <a:stretch/>
        </p:blipFill>
        <p:spPr bwMode="auto">
          <a:xfrm flipH="0" flipV="0">
            <a:off x="0" y="1227666"/>
            <a:ext cx="12191999" cy="45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0557422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089814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575745882" name="CaixaDeTexto 5"/>
          <p:cNvSpPr/>
          <p:nvPr/>
        </p:nvSpPr>
        <p:spPr bwMode="auto">
          <a:xfrm>
            <a:off x="632444" y="404349"/>
            <a:ext cx="830723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Abadi Extra Light"/>
                <a:ea typeface="Microsoft YaHei"/>
                <a:cs typeface="Lucida Sans"/>
              </a:rPr>
              <a:t>Full-Reference Fusion Metric</a:t>
            </a:r>
            <a:endParaRPr lang="en-US"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344891062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95500" cy="365123"/>
          </a:xfrm>
        </p:spPr>
        <p:txBody>
          <a:bodyPr/>
          <a:lstStyle/>
          <a:p>
            <a:pPr lvl="0">
              <a:defRPr/>
            </a:pPr>
            <a:fld id="{9E62ED71-F043-2038-F7C3-8956413D9376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782935793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618713702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pic>
        <p:nvPicPr>
          <p:cNvPr id="1393883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57866" y="2722541"/>
            <a:ext cx="4431216" cy="3165154"/>
          </a:xfrm>
          <a:prstGeom prst="rect">
            <a:avLst/>
          </a:prstGeom>
        </p:spPr>
      </p:pic>
      <p:pic>
        <p:nvPicPr>
          <p:cNvPr id="17199712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571089" y="2722541"/>
            <a:ext cx="4481237" cy="3200883"/>
          </a:xfrm>
          <a:prstGeom prst="rect">
            <a:avLst/>
          </a:prstGeom>
        </p:spPr>
      </p:pic>
      <p:sp>
        <p:nvSpPr>
          <p:cNvPr id="940909883" name=""/>
          <p:cNvSpPr txBox="1"/>
          <p:nvPr/>
        </p:nvSpPr>
        <p:spPr bwMode="auto">
          <a:xfrm rot="0" flipH="0" flipV="0">
            <a:off x="698497" y="1430946"/>
            <a:ext cx="10852995" cy="110786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/>
              <a:t>Top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k=6</m:t>
                      </m:r>
                    </m:oMath>
                  </m:oMathPara>
                </a14:m>
              </mc:Choice>
              <mc:Fallback/>
            </mc:AlternateContent>
            <a:r>
              <a:rPr lang="en-US" sz="2200"/>
              <a:t> metrics were: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MS-SSIM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PSNR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PSNR-B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SNR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VIF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UQI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These stand for Multiscale Structural Similarity Index Metric, Peak Signal-to-Noise Ratio, PSNR-Blocks, Signal-to-Noise Ratio, Visual Information Fidelity, and Universal Quality Index, respectively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981865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447019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21547343" name="CaixaDeTexto 5"/>
          <p:cNvSpPr/>
          <p:nvPr/>
        </p:nvSpPr>
        <p:spPr bwMode="auto">
          <a:xfrm>
            <a:off x="632444" y="404349"/>
            <a:ext cx="829715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Abadi Extra Light"/>
                <a:ea typeface="Abadi Extra Light"/>
                <a:cs typeface="Abadi Extra Light"/>
              </a:rPr>
              <a:t>Pseudo-MOS Regression Model</a:t>
            </a:r>
            <a:endParaRPr sz="2800" b="1">
              <a:solidFill>
                <a:srgbClr val="000000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746789992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400566" cy="365123"/>
          </a:xfrm>
        </p:spPr>
        <p:txBody>
          <a:bodyPr/>
          <a:lstStyle/>
          <a:p>
            <a:pPr lvl="0">
              <a:defRPr/>
            </a:pPr>
            <a:fld id="{A7B9E2DB-0B3C-D248-B67E-6A955664498F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802250453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517010225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pic>
        <p:nvPicPr>
          <p:cNvPr id="1603921908" name=""/>
          <p:cNvPicPr>
            <a:picLocks noChangeAspect="1"/>
          </p:cNvPicPr>
          <p:nvPr/>
        </p:nvPicPr>
        <p:blipFill>
          <a:blip r:embed="rId4"/>
          <a:srcRect l="1229" t="2797" r="6160" b="3186"/>
          <a:stretch/>
        </p:blipFill>
        <p:spPr bwMode="auto">
          <a:xfrm flipH="0" flipV="0">
            <a:off x="5987912" y="2410409"/>
            <a:ext cx="5567927" cy="2926080"/>
          </a:xfrm>
          <a:prstGeom prst="rect">
            <a:avLst/>
          </a:prstGeom>
        </p:spPr>
      </p:pic>
      <p:graphicFrame>
        <p:nvGraphicFramePr>
          <p:cNvPr id="1775740012" name=""/>
          <p:cNvGraphicFramePr>
            <a:graphicFrameLocks xmlns:a="http://schemas.openxmlformats.org/drawingml/2006/main"/>
          </p:cNvGraphicFramePr>
          <p:nvPr/>
        </p:nvGraphicFramePr>
        <p:xfrm>
          <a:off x="632444" y="2410409"/>
          <a:ext cx="5210638" cy="2926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{E8034E78-7F5D-4C2E-B375-FC64B27BC917}</a:tableStyleId>
              </a:tblPr>
              <a:tblGrid>
                <a:gridCol w="1031370"/>
                <a:gridCol w="1031370"/>
                <a:gridCol w="1031370"/>
                <a:gridCol w="1031370"/>
                <a:gridCol w="1085154"/>
              </a:tblGrid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Metric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PLCC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SRCC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MSE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MAE</a:t>
                      </a:r>
                      <a:endParaRPr lang="en-US"/>
                    </a:p>
                  </a:txBody>
                  <a:tcPr/>
                </a:tc>
              </a:tr>
              <a:tr h="33970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Fusion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0.8881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0.8893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65.07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6.160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MS-SSIM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0.7712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0.8489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2542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47.27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PSNR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0.8009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0.8132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420.7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16.57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PSNR-B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0.7996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0.8126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434.8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16.84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SNR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0.7931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0.8047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493.9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18.08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VIF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0.7723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0.7671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2584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47.75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UQI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0.6866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0.8085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2540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47.24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523992" name=""/>
          <p:cNvSpPr txBox="1"/>
          <p:nvPr/>
        </p:nvSpPr>
        <p:spPr bwMode="auto">
          <a:xfrm rot="0" flipH="0" flipV="0">
            <a:off x="632444" y="1457323"/>
            <a:ext cx="521459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Table 2.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Performance of our Fusion metric and the selected FR-IQA metrics.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870287227" name=""/>
          <p:cNvSpPr txBox="1"/>
          <p:nvPr/>
        </p:nvSpPr>
        <p:spPr bwMode="auto">
          <a:xfrm rot="0" flipH="0" flipV="0">
            <a:off x="6095880" y="1452211"/>
            <a:ext cx="5460679" cy="77258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SHAP summary plot for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k=6</m:t>
                      </m:r>
                    </m:oMath>
                  </m:oMathPara>
                </a14:m>
              </mc:Choice>
              <mc:Fallback/>
            </mc:AlternateContent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, generated from the best CatBoost model.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2162766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8112037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915047264" name="CaixaDeTexto 5"/>
          <p:cNvSpPr/>
          <p:nvPr/>
        </p:nvSpPr>
        <p:spPr bwMode="auto">
          <a:xfrm>
            <a:off x="632444" y="404349"/>
            <a:ext cx="832091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Abadi Extra Light"/>
                <a:ea typeface="Abadi Extra Light"/>
                <a:cs typeface="Abadi Extra Light"/>
              </a:rPr>
              <a:t>pMOS-FACE: </a:t>
            </a:r>
            <a:r>
              <a:rPr lang="en-US" sz="2800" b="1" i="0" u="none" strike="noStrike" cap="none" spc="0">
                <a:solidFill>
                  <a:srgbClr val="000000"/>
                </a:solidFill>
                <a:latin typeface="Abadi Extra Light"/>
                <a:ea typeface="Abadi Extra Light"/>
                <a:cs typeface="Abadi Extra Light"/>
              </a:rPr>
              <a:t>No-Reference FIQA Model </a:t>
            </a:r>
            <a:endParaRPr lang="en-US" sz="2800" b="1" i="0" u="none" strike="noStrike" cap="none" spc="0">
              <a:solidFill>
                <a:srgbClr val="000000"/>
              </a:solidFill>
              <a:latin typeface="Abadi Extra Light"/>
              <a:ea typeface="Abadi Extra Light"/>
              <a:cs typeface="Abadi Extra Light"/>
            </a:endParaRPr>
          </a:p>
        </p:txBody>
      </p:sp>
      <p:sp>
        <p:nvSpPr>
          <p:cNvPr id="1101423319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95500" cy="365123"/>
          </a:xfrm>
        </p:spPr>
        <p:txBody>
          <a:bodyPr/>
          <a:lstStyle/>
          <a:p>
            <a:pPr lvl="0">
              <a:defRPr/>
            </a:pPr>
            <a:fld id="{BF405E0E-FFD8-59AF-0A32-0AE0C7983E3B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1233823775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397655291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592836098" name=""/>
          <p:cNvSpPr txBox="1"/>
          <p:nvPr/>
        </p:nvSpPr>
        <p:spPr bwMode="auto">
          <a:xfrm rot="0" flipH="0" flipV="0">
            <a:off x="698497" y="1430946"/>
            <a:ext cx="10868835" cy="176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27936" indent="-327936">
              <a:buFont typeface="Wingdings"/>
              <a:buChar char="w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We trained a deep regression model end-to-end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using pseudo-MOS scores as targets.</a:t>
            </a:r>
            <a:endParaRPr lang="en-US" sz="2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buFont typeface="Wingdings"/>
              <a:buChar char="w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architecture is based on a ResNet18 backbone pretrained on ImageNet</a:t>
            </a:r>
            <a:r>
              <a:rPr lang="en-US" sz="2200"/>
              <a:t>.</a:t>
            </a:r>
            <a:endParaRPr lang="en-US" sz="2200"/>
          </a:p>
          <a:p>
            <a:pPr marL="327936" indent="-327936">
              <a:buFont typeface="Wingdings"/>
              <a:buChar char="w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Its final classification layer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is replaced by a lightweight multi-layer perceptron (MLP) regressor.</a:t>
            </a:r>
            <a:endParaRPr lang="en-US" sz="2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2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3194395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2316" y="3005666"/>
            <a:ext cx="4222749" cy="3016249"/>
          </a:xfrm>
          <a:prstGeom prst="rect">
            <a:avLst/>
          </a:prstGeom>
        </p:spPr>
      </p:pic>
      <p:pic>
        <p:nvPicPr>
          <p:cNvPr id="3435826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332506" y="3032804"/>
            <a:ext cx="4184755" cy="2989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588297" name="Imagem 6"/>
          <p:cNvPicPr>
            <a:picLocks noChangeAspect="1"/>
          </p:cNvPicPr>
          <p:nvPr/>
        </p:nvPicPr>
        <p:blipFill>
          <a:blip r:embed="rId3">
            <a:lum/>
            <a:alphaModFix/>
          </a:blip>
          <a:stretch/>
        </p:blipFill>
        <p:spPr bwMode="auto">
          <a:xfrm>
            <a:off x="9694256" y="404349"/>
            <a:ext cx="1761837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346424" name="Retângulo 3"/>
          <p:cNvSpPr/>
          <p:nvPr/>
        </p:nvSpPr>
        <p:spPr bwMode="auto">
          <a:xfrm>
            <a:off x="0" y="6289917"/>
            <a:ext cx="12191760" cy="5677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00000"/>
          </a:solidFill>
          <a:ln>
            <a:noFill/>
            <a:prstDash val="solid"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>
              <a:ln>
                <a:noFill/>
              </a:ln>
              <a:latin typeface="Arial"/>
              <a:ea typeface="Microsoft YaHei"/>
              <a:cs typeface="Lucida Sans"/>
            </a:endParaRPr>
          </a:p>
        </p:txBody>
      </p:sp>
      <p:sp>
        <p:nvSpPr>
          <p:cNvPr id="1691641230" name="CaixaDeTexto 5"/>
          <p:cNvSpPr/>
          <p:nvPr/>
        </p:nvSpPr>
        <p:spPr bwMode="auto">
          <a:xfrm>
            <a:off x="632444" y="404349"/>
            <a:ext cx="8327397" cy="5170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Abadi Extra Light"/>
                <a:ea typeface="Abadi Extra Light"/>
                <a:cs typeface="Abadi Extra Light"/>
              </a:rPr>
              <a:t>pMOS-FACE Performance</a:t>
            </a:r>
            <a:endParaRPr lang="en-US" sz="2800" b="1" i="0" u="none" strike="noStrike" cap="none" spc="0">
              <a:solidFill>
                <a:srgbClr val="000000"/>
              </a:solidFill>
              <a:latin typeface="Abadi Extra Light"/>
              <a:ea typeface="Abadi Extra Light"/>
              <a:cs typeface="Abadi Extra Light"/>
            </a:endParaRPr>
          </a:p>
        </p:txBody>
      </p:sp>
      <p:sp>
        <p:nvSpPr>
          <p:cNvPr id="896397498" name="Espaço Reservado para Número de Slide 1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11155993" y="6356349"/>
            <a:ext cx="395500" cy="365123"/>
          </a:xfrm>
        </p:spPr>
        <p:txBody>
          <a:bodyPr/>
          <a:lstStyle/>
          <a:p>
            <a:pPr lvl="0">
              <a:defRPr/>
            </a:pPr>
            <a:fld id="{D45399C6-F8C1-39B9-55CE-5AF1C7B928FD}" type="slidenum">
              <a:rPr lang="en-US" sz="1600">
                <a:solidFill>
                  <a:schemeClr val="bg1"/>
                </a:solidFill>
                <a:latin typeface="Calibri Light"/>
              </a:rPr>
              <a:t/>
            </a:fld>
            <a:endParaRPr lang="en-US" sz="1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948255301" name="CaixaDeTexto 11"/>
          <p:cNvSpPr/>
          <p:nvPr/>
        </p:nvSpPr>
        <p:spPr bwMode="auto">
          <a:xfrm flipH="0" flipV="0">
            <a:off x="632444" y="6398883"/>
            <a:ext cx="1791086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ISR – </a:t>
            </a: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VisTeam</a:t>
            </a:r>
            <a:endParaRPr lang="en-US" sz="1800" b="0" i="0" u="none" strike="noStrike" spc="0">
              <a:ln>
                <a:noFill/>
              </a:ln>
              <a:solidFill>
                <a:schemeClr val="bg1"/>
              </a:solidFill>
              <a:latin typeface="Abadi Extra Light"/>
              <a:ea typeface="Microsoft YaHei"/>
              <a:cs typeface="Lucida Sans"/>
            </a:endParaRPr>
          </a:p>
        </p:txBody>
      </p:sp>
      <p:sp>
        <p:nvSpPr>
          <p:cNvPr id="1567598363" name="CaixaDeTexto 12"/>
          <p:cNvSpPr/>
          <p:nvPr/>
        </p:nvSpPr>
        <p:spPr bwMode="auto">
          <a:xfrm flipH="0" flipV="0">
            <a:off x="9982199" y="6391437"/>
            <a:ext cx="1070127" cy="36467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 fill="norm" stroke="1" extrusionOk="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spc="0">
                <a:ln>
                  <a:noFill/>
                </a:ln>
                <a:solidFill>
                  <a:schemeClr val="bg1"/>
                </a:solidFill>
                <a:latin typeface="Abadi Extra Light"/>
                <a:ea typeface="Microsoft YaHei"/>
                <a:cs typeface="Lucida Sans"/>
              </a:rPr>
              <a:t>IbPRIA</a:t>
            </a:r>
            <a:endParaRPr/>
          </a:p>
        </p:txBody>
      </p:sp>
      <p:sp>
        <p:nvSpPr>
          <p:cNvPr id="1782979790" name=""/>
          <p:cNvSpPr txBox="1"/>
          <p:nvPr/>
        </p:nvSpPr>
        <p:spPr bwMode="auto">
          <a:xfrm rot="0" flipH="0" flipV="0">
            <a:off x="698497" y="1430946"/>
            <a:ext cx="10877115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Our model is more effective in predicting perceptual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quality than classical NR-IQA metrics such as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NIQE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PIQE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as well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 task-specific approaches like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SER-FIQ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MagFace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2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graphicFrame>
        <p:nvGraphicFramePr>
          <p:cNvPr id="1901279244" name=""/>
          <p:cNvGraphicFramePr>
            <a:graphicFrameLocks xmlns:a="http://schemas.openxmlformats.org/drawingml/2006/main"/>
          </p:cNvGraphicFramePr>
          <p:nvPr/>
        </p:nvGraphicFramePr>
        <p:xfrm>
          <a:off x="3189842" y="2825749"/>
          <a:ext cx="5886147" cy="2194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{E8034E78-7F5D-4C2E-B375-FC64B27BC917}</a:tableStyleId>
              </a:tblPr>
              <a:tblGrid>
                <a:gridCol w="1350000"/>
                <a:gridCol w="1170000"/>
                <a:gridCol w="1170000"/>
                <a:gridCol w="1080000"/>
                <a:gridCol w="1116147"/>
              </a:tblGrid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Metric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PLCC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SRCC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MSE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MAE</a:t>
                      </a:r>
                      <a:endParaRPr lang="en-US"/>
                    </a:p>
                  </a:txBody>
                  <a:tcPr/>
                </a:tc>
              </a:tr>
              <a:tr h="3397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pMOS-FACE</a:t>
                      </a:r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0.9285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0.9345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120.6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9.158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b="1"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NIQE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0.7536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0.7431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6859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82.62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PIQE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0.2993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0.3114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3297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57.05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SER-FIQ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-0.1648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-0.1542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123.5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9.230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32830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MagFace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-0.6095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-0.6362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4437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66.24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ONLYOFFICE/9.0.0.172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2013124299</dc:creator>
  <cp:lastModifiedBy/>
  <cp:revision>7</cp:revision>
  <dcterms:created xsi:type="dcterms:W3CDTF">2024-01-31T23:29:19Z</dcterms:created>
  <dcterms:modified xsi:type="dcterms:W3CDTF">2025-06-28T23:25:45Z</dcterms:modified>
</cp:coreProperties>
</file>